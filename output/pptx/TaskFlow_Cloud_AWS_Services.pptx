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e763ecc424d73" /><Relationship Type="http://schemas.openxmlformats.org/officeDocument/2006/relationships/extended-properties" Target="/docProps/app.xml" Id="Rf5703b8a7d514e06" /><Relationship Type="http://schemas.openxmlformats.org/officeDocument/2006/relationships/officeDocument" Target="/ppt/presentation.xml" Id="Rfb36ccbe8d6c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5124c2feb47ab"/>
  </p:sldMasterIdLst>
  <p:notesMasterIdLst>
    <p:notesMasterId xmlns:r="http://schemas.openxmlformats.org/officeDocument/2006/relationships" r:id="Rf6cf32c22c2b4daa"/>
  </p:notesMasterIdLst>
  <p:sldIdLst>
    <p:sldId xmlns:r="http://schemas.openxmlformats.org/officeDocument/2006/relationships" id="256" r:id="Red66c25884a541db"/>
    <p:sldId xmlns:r="http://schemas.openxmlformats.org/officeDocument/2006/relationships" id="257" r:id="R0c981831338c48fa"/>
    <p:sldId xmlns:r="http://schemas.openxmlformats.org/officeDocument/2006/relationships" id="258" r:id="R502b6d92a8c44d64"/>
    <p:sldId xmlns:r="http://schemas.openxmlformats.org/officeDocument/2006/relationships" id="259" r:id="Rd795392c7356434f"/>
    <p:sldId xmlns:r="http://schemas.openxmlformats.org/officeDocument/2006/relationships" id="260" r:id="Rd2af195587824b1e"/>
    <p:sldId xmlns:r="http://schemas.openxmlformats.org/officeDocument/2006/relationships" id="261" r:id="R2eaffc83d71f4298"/>
    <p:sldId xmlns:r="http://schemas.openxmlformats.org/officeDocument/2006/relationships" id="262" r:id="R12cf7781fa4044b1"/>
    <p:sldId xmlns:r="http://schemas.openxmlformats.org/officeDocument/2006/relationships" id="263" r:id="R5c3b4c47aa204511"/>
    <p:sldId xmlns:r="http://schemas.openxmlformats.org/officeDocument/2006/relationships" id="264" r:id="R89e67a1007104397"/>
    <p:sldId xmlns:r="http://schemas.openxmlformats.org/officeDocument/2006/relationships" id="265" r:id="R436dd869997a4b9e"/>
    <p:sldId xmlns:r="http://schemas.openxmlformats.org/officeDocument/2006/relationships" id="266" r:id="R508f9221a32843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76f90f17a4957" /><Relationship Type="http://schemas.openxmlformats.org/officeDocument/2006/relationships/slideMaster" Target="/ppt/slideMasters/slideMaster1.xml" Id="Rbcc5124c2feb47ab" /><Relationship Type="http://schemas.openxmlformats.org/officeDocument/2006/relationships/notesMaster" Target="/ppt/notesMasters/notesMaster1.xml" Id="Rf6cf32c22c2b4daa" /><Relationship Type="http://schemas.openxmlformats.org/officeDocument/2006/relationships/presProps" Target="/ppt/presProps.xml" Id="Rf2162a164fc845b6" /><Relationship Type="http://schemas.openxmlformats.org/officeDocument/2006/relationships/tableStyles" Target="/ppt/tableStyles.xml" Id="R558742e5542c4416" /><Relationship Type="http://schemas.openxmlformats.org/officeDocument/2006/relationships/slide" Target="/ppt/slides/slide1.xml" Id="Red66c25884a541db" /><Relationship Type="http://schemas.openxmlformats.org/officeDocument/2006/relationships/slide" Target="/ppt/slides/slide2.xml" Id="R0c981831338c48fa" /><Relationship Type="http://schemas.openxmlformats.org/officeDocument/2006/relationships/slide" Target="/ppt/slides/slide3.xml" Id="R502b6d92a8c44d64" /><Relationship Type="http://schemas.openxmlformats.org/officeDocument/2006/relationships/slide" Target="/ppt/slides/slide4.xml" Id="Rd795392c7356434f" /><Relationship Type="http://schemas.openxmlformats.org/officeDocument/2006/relationships/slide" Target="/ppt/slides/slide5.xml" Id="Rd2af195587824b1e" /><Relationship Type="http://schemas.openxmlformats.org/officeDocument/2006/relationships/slide" Target="/ppt/slides/slide6.xml" Id="R2eaffc83d71f4298" /><Relationship Type="http://schemas.openxmlformats.org/officeDocument/2006/relationships/slide" Target="/ppt/slides/slide7.xml" Id="R12cf7781fa4044b1" /><Relationship Type="http://schemas.openxmlformats.org/officeDocument/2006/relationships/slide" Target="/ppt/slides/slide8.xml" Id="R5c3b4c47aa204511" /><Relationship Type="http://schemas.openxmlformats.org/officeDocument/2006/relationships/slide" Target="/ppt/slides/slide9.xml" Id="R89e67a1007104397" /><Relationship Type="http://schemas.openxmlformats.org/officeDocument/2006/relationships/slide" Target="/ppt/slides/slide10.xml" Id="R436dd869997a4b9e" /><Relationship Type="http://schemas.openxmlformats.org/officeDocument/2006/relationships/slide" Target="/ppt/slides/slide11.xml" Id="R508f9221a328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29a4a6f99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0b28070de74f5a" /><Relationship Type="http://schemas.openxmlformats.org/officeDocument/2006/relationships/notesMaster" Target="/ppt/notesMasters/notesMaster1.xml" Id="Ra5eec728b087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e998c57184cd1" /><Relationship Type="http://schemas.openxmlformats.org/officeDocument/2006/relationships/notesMaster" Target="/ppt/notesMasters/notesMaster1.xml" Id="Rc4fd03947708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fec06ab8a4830" /><Relationship Type="http://schemas.openxmlformats.org/officeDocument/2006/relationships/notesMaster" Target="/ppt/notesMasters/notesMaster1.xml" Id="R63abd8b956b24e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d177f84544fa6" /><Relationship Type="http://schemas.openxmlformats.org/officeDocument/2006/relationships/notesMaster" Target="/ppt/notesMasters/notesMaster1.xml" Id="R8a642ecbd153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81a3d07cd247d7" /><Relationship Type="http://schemas.openxmlformats.org/officeDocument/2006/relationships/notesMaster" Target="/ppt/notesMasters/notesMaster1.xml" Id="R415b5bde627646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dd94930214769" /><Relationship Type="http://schemas.openxmlformats.org/officeDocument/2006/relationships/notesMaster" Target="/ppt/notesMasters/notesMaster1.xml" Id="R627678f8400a40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cfff7dd16b4ec3" /><Relationship Type="http://schemas.openxmlformats.org/officeDocument/2006/relationships/notesMaster" Target="/ppt/notesMasters/notesMaster1.xml" Id="R1a05cd85dcfe4d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ba731c77b841bb" /><Relationship Type="http://schemas.openxmlformats.org/officeDocument/2006/relationships/notesMaster" Target="/ppt/notesMasters/notesMaster1.xml" Id="R934d908360ac49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bee427beeb472e" /><Relationship Type="http://schemas.openxmlformats.org/officeDocument/2006/relationships/notesMaster" Target="/ppt/notesMasters/notesMaster1.xml" Id="R6c86dedc187542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90cbde934040dc" /><Relationship Type="http://schemas.openxmlformats.org/officeDocument/2006/relationships/notesMaster" Target="/ppt/notesMasters/notesMaster1.xml" Id="Re9d897e4303441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daab4ec4db46bf" /><Relationship Type="http://schemas.openxmlformats.org/officeDocument/2006/relationships/notesMaster" Target="/ppt/notesMasters/notesMaster1.xml" Id="R54e386d239c440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689a7297c45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213cde2b446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03f59c7d340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e8412e9c84a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0a3c31f3f40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aa2ee01eb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210F4E-1EB8-4EA6-A433-9F8B62ECF1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9189D6-65A7-4504-A5CB-701557DAD0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846DA1-9BDA-42C9-BE23-05FB29F6E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225277-0CBD-42DD-A7BE-142729651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64D3E5-73DF-4FB5-BBA4-0B5063083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6BBAAA-A67D-4CB7-B49D-E81D11C38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ED1849-96C4-4E75-B0D7-73FF9E53A7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984C2E-0818-471C-BF02-A0F2F24987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13A6D7-26A0-40B3-ADB0-7428E5C24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FD042C-C6A7-48AB-9AED-F376E5C416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5646037124f91" /><Relationship Type="http://schemas.openxmlformats.org/officeDocument/2006/relationships/slideLayout" Target="/ppt/slideLayouts/slideLayout1.xml" Id="R178728a8cc0f46ab" /><Relationship Type="http://schemas.openxmlformats.org/officeDocument/2006/relationships/slideLayout" Target="/ppt/slideLayouts/slideLayout2.xml" Id="R7fb37fb49f7d4d72" /><Relationship Type="http://schemas.openxmlformats.org/officeDocument/2006/relationships/slideLayout" Target="/ppt/slideLayouts/slideLayout3.xml" Id="R01d7f1faff4544e5" /><Relationship Type="http://schemas.openxmlformats.org/officeDocument/2006/relationships/slideLayout" Target="/ppt/slideLayouts/slideLayout4.xml" Id="R0c9ab3bd569141c1" /><Relationship Type="http://schemas.openxmlformats.org/officeDocument/2006/relationships/slideLayout" Target="/ppt/slideLayouts/slideLayout5.xml" Id="R37186ba7bf854c30" /><Relationship Type="http://schemas.openxmlformats.org/officeDocument/2006/relationships/slideLayout" Target="/ppt/slideLayouts/slideLayout6.xml" Id="R408fd8d3d074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728a8cc0f46ab"/>
    <p:sldLayoutId xmlns:r="http://schemas.openxmlformats.org/officeDocument/2006/relationships" id="2147483650" r:id="R7fb37fb49f7d4d72"/>
    <p:sldLayoutId xmlns:r="http://schemas.openxmlformats.org/officeDocument/2006/relationships" id="2147483651" r:id="R01d7f1faff4544e5"/>
    <p:sldLayoutId xmlns:r="http://schemas.openxmlformats.org/officeDocument/2006/relationships" id="2147483652" r:id="R0c9ab3bd569141c1"/>
    <p:sldLayoutId xmlns:r="http://schemas.openxmlformats.org/officeDocument/2006/relationships" id="2147483653" r:id="R37186ba7bf854c30"/>
    <p:sldLayoutId xmlns:r="http://schemas.openxmlformats.org/officeDocument/2006/relationships" id="2147483654" r:id="R408fd8d3d074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3ed00489e4188" /><Relationship Type="http://schemas.openxmlformats.org/officeDocument/2006/relationships/notesSlide" Target="/ppt/notesSlides/notesSlide1.xml" Id="R16ebe105cf99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ad88744f24c5f" /><Relationship Type="http://schemas.openxmlformats.org/officeDocument/2006/relationships/notesSlide" Target="/ppt/notesSlides/notesSlide2.xml" Id="R60874126c8664a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708c325bb429e" /><Relationship Type="http://schemas.openxmlformats.org/officeDocument/2006/relationships/notesSlide" Target="/ppt/notesSlides/notesSlide3.xml" Id="R4079679aaca544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89e3c7f544758" /><Relationship Type="http://schemas.openxmlformats.org/officeDocument/2006/relationships/notesSlide" Target="/ppt/notesSlides/notesSlide4.xml" Id="R08058df3db8c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761e40447499c" /><Relationship Type="http://schemas.openxmlformats.org/officeDocument/2006/relationships/notesSlide" Target="/ppt/notesSlides/notesSlide5.xml" Id="R50eb3b29381848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1918673864044" /><Relationship Type="http://schemas.openxmlformats.org/officeDocument/2006/relationships/notesSlide" Target="/ppt/notesSlides/notesSlide6.xml" Id="R08787bd621c941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c9b1fab5943fa" /><Relationship Type="http://schemas.openxmlformats.org/officeDocument/2006/relationships/notesSlide" Target="/ppt/notesSlides/notesSlide7.xml" Id="R0358488a7c504f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5e111a6224e1a" /><Relationship Type="http://schemas.openxmlformats.org/officeDocument/2006/relationships/notesSlide" Target="/ppt/notesSlides/notesSlide8.xml" Id="R9d69a263c423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d0543a9804846" /><Relationship Type="http://schemas.openxmlformats.org/officeDocument/2006/relationships/notesSlide" Target="/ppt/notesSlides/notesSlide9.xml" Id="Rb411d5fc886642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9da4dcae2462a" /><Relationship Type="http://schemas.openxmlformats.org/officeDocument/2006/relationships/notesSlide" Target="/ppt/notesSlides/notesSlide10.xml" Id="R6f68bec4e0bc47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98aaac0ee4931" /><Relationship Type="http://schemas.openxmlformats.org/officeDocument/2006/relationships/notesSlide" Target="/ppt/notesSlides/notesSlide11.xml" Id="R2485314aed5c49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D13A8-E2DB-4273-B472-73E0E0F1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28CD1-3CDB-4376-B5E1-97A8260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91C7A-236B-42DE-B394-D881EC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  <a:lvl1pPr algn="l">
              <a:defRPr sz="3600" b="1">
                <a:solidFill>
                  <a:srgbClr val="FFFFFF"/>
                </a:solidFill>
              </a:defRPr>
            </a:lvl1pPr>
            <a:lvl2pPr algn="l">
              <a:defRPr sz="3600" b="1">
                <a:solidFill>
                  <a:srgbClr val="FFFFFF"/>
                </a:solidFill>
              </a:defRPr>
            </a:lvl2pPr>
            <a:lvl3pPr algn="l">
              <a:defRPr sz="3600" b="1">
                <a:solidFill>
                  <a:srgbClr val="FFFFFF"/>
                </a:solidFill>
              </a:defRPr>
            </a:lvl3pPr>
            <a:lvl4pPr algn="l">
              <a:defRPr sz="3600" b="1">
                <a:solidFill>
                  <a:srgbClr val="FFFFFF"/>
                </a:solidFill>
              </a:defRPr>
            </a:lvl4pPr>
            <a:lvl5pPr algn="l">
              <a:defRPr sz="3600" b="1">
                <a:solidFill>
                  <a:srgbClr val="FFFFFF"/>
                </a:solidFill>
              </a:defRPr>
            </a:lvl5pPr>
            <a:lvl6pPr algn="l">
              <a:defRPr sz="3600" b="1">
                <a:solidFill>
                  <a:srgbClr val="FFFFFF"/>
                </a:solidFill>
              </a:defRPr>
            </a:lvl6pPr>
            <a:lvl7pPr algn="l">
              <a:defRPr sz="3600" b="1">
                <a:solidFill>
                  <a:srgbClr val="FFFFFF"/>
                </a:solidFill>
              </a:defRPr>
            </a:lvl7pPr>
            <a:lvl8pPr algn="l">
              <a:defRPr sz="3600" b="1">
                <a:solidFill>
                  <a:srgbClr val="FFFFFF"/>
                </a:solidFill>
              </a:defRPr>
            </a:lvl8pPr>
            <a:lvl9pPr algn="l"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TaskFlow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1D628-48B1-4A98-A428-8EEE427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D9EAF7"/>
                </a:solidFill>
              </a:defRPr>
            </a:defPPr>
            <a:lvl1pPr algn="l">
              <a:defRPr sz="2025" b="0">
                <a:solidFill>
                  <a:srgbClr val="D9EAF7"/>
                </a:solidFill>
              </a:defRPr>
            </a:lvl1pPr>
            <a:lvl2pPr algn="l">
              <a:defRPr sz="2025" b="0">
                <a:solidFill>
                  <a:srgbClr val="D9EAF7"/>
                </a:solidFill>
              </a:defRPr>
            </a:lvl2pPr>
            <a:lvl3pPr algn="l">
              <a:defRPr sz="2025" b="0">
                <a:solidFill>
                  <a:srgbClr val="D9EAF7"/>
                </a:solidFill>
              </a:defRPr>
            </a:lvl3pPr>
            <a:lvl4pPr algn="l">
              <a:defRPr sz="2025" b="0">
                <a:solidFill>
                  <a:srgbClr val="D9EAF7"/>
                </a:solidFill>
              </a:defRPr>
            </a:lvl4pPr>
            <a:lvl5pPr algn="l">
              <a:defRPr sz="2025" b="0">
                <a:solidFill>
                  <a:srgbClr val="D9EAF7"/>
                </a:solidFill>
              </a:defRPr>
            </a:lvl5pPr>
            <a:lvl6pPr algn="l">
              <a:defRPr sz="2025" b="0">
                <a:solidFill>
                  <a:srgbClr val="D9EAF7"/>
                </a:solidFill>
              </a:defRPr>
            </a:lvl6pPr>
            <a:lvl7pPr algn="l">
              <a:defRPr sz="2025" b="0">
                <a:solidFill>
                  <a:srgbClr val="D9EAF7"/>
                </a:solidFill>
              </a:defRPr>
            </a:lvl7pPr>
            <a:lvl8pPr algn="l">
              <a:defRPr sz="2025" b="0">
                <a:solidFill>
                  <a:srgbClr val="D9EAF7"/>
                </a:solidFill>
              </a:defRPr>
            </a:lvl8pPr>
            <a:lvl9pPr algn="l">
              <a:defRPr sz="2025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9EAF7"/>
                </a:solidFill>
              </a:defRPr>
            </a:pPr>
            <a:r>
              <a:rPr sz="2025" b="0">
                <a:solidFill>
                  <a:srgbClr val="D9EAF7"/>
                </a:solidFill>
              </a:rPr>
              <a:t>AWS Amplify, Amazon EC2 and Amazon 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3C06D-CE2F-4DF0-85AF-42A97DF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  <a:lvl1pPr algn="l">
              <a:defRPr sz="1500" b="0">
                <a:solidFill>
                  <a:srgbClr val="FFFFFF"/>
                </a:solidFill>
              </a:defRPr>
            </a:lvl1pPr>
            <a:lvl2pPr algn="l">
              <a:defRPr sz="1500" b="0">
                <a:solidFill>
                  <a:srgbClr val="FFFFFF"/>
                </a:solidFill>
              </a:defRPr>
            </a:lvl2pPr>
            <a:lvl3pPr algn="l">
              <a:defRPr sz="1500" b="0">
                <a:solidFill>
                  <a:srgbClr val="FFFFFF"/>
                </a:solidFill>
              </a:defRPr>
            </a:lvl3pPr>
            <a:lvl4pPr algn="l">
              <a:defRPr sz="1500" b="0">
                <a:solidFill>
                  <a:srgbClr val="FFFFFF"/>
                </a:solidFill>
              </a:defRPr>
            </a:lvl4pPr>
            <a:lvl5pPr algn="l">
              <a:defRPr sz="1500" b="0">
                <a:solidFill>
                  <a:srgbClr val="FFFFFF"/>
                </a:solidFill>
              </a:defRPr>
            </a:lvl5pPr>
            <a:lvl6pPr algn="l">
              <a:defRPr sz="1500" b="0">
                <a:solidFill>
                  <a:srgbClr val="FFFFFF"/>
                </a:solidFill>
              </a:defRPr>
            </a:lvl6pPr>
            <a:lvl7pPr algn="l">
              <a:defRPr sz="1500" b="0">
                <a:solidFill>
                  <a:srgbClr val="FFFFFF"/>
                </a:solidFill>
              </a:defRPr>
            </a:lvl7pPr>
            <a:lvl8pPr algn="l">
              <a:defRPr sz="1500" b="0">
                <a:solidFill>
                  <a:srgbClr val="FFFFFF"/>
                </a:solidFill>
              </a:defRPr>
            </a:lvl8pPr>
            <a:lvl9pPr algn="l"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How the cloud services support a student task and study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BB4F6-E74F-478A-9CA6-225F91C1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C7D7E3"/>
                </a:solidFill>
              </a:defRPr>
            </a:defPPr>
            <a:lvl1pPr algn="l">
              <a:defRPr sz="975" b="0">
                <a:solidFill>
                  <a:srgbClr val="C7D7E3"/>
                </a:solidFill>
              </a:defRPr>
            </a:lvl1pPr>
            <a:lvl2pPr algn="l">
              <a:defRPr sz="975" b="0">
                <a:solidFill>
                  <a:srgbClr val="C7D7E3"/>
                </a:solidFill>
              </a:defRPr>
            </a:lvl2pPr>
            <a:lvl3pPr algn="l">
              <a:defRPr sz="975" b="0">
                <a:solidFill>
                  <a:srgbClr val="C7D7E3"/>
                </a:solidFill>
              </a:defRPr>
            </a:lvl3pPr>
            <a:lvl4pPr algn="l">
              <a:defRPr sz="975" b="0">
                <a:solidFill>
                  <a:srgbClr val="C7D7E3"/>
                </a:solidFill>
              </a:defRPr>
            </a:lvl4pPr>
            <a:lvl5pPr algn="l">
              <a:defRPr sz="975" b="0">
                <a:solidFill>
                  <a:srgbClr val="C7D7E3"/>
                </a:solidFill>
              </a:defRPr>
            </a:lvl5pPr>
            <a:lvl6pPr algn="l">
              <a:defRPr sz="975" b="0">
                <a:solidFill>
                  <a:srgbClr val="C7D7E3"/>
                </a:solidFill>
              </a:defRPr>
            </a:lvl6pPr>
            <a:lvl7pPr algn="l">
              <a:defRPr sz="975" b="0">
                <a:solidFill>
                  <a:srgbClr val="C7D7E3"/>
                </a:solidFill>
              </a:defRPr>
            </a:lvl7pPr>
            <a:lvl8pPr algn="l">
              <a:defRPr sz="975" b="0">
                <a:solidFill>
                  <a:srgbClr val="C7D7E3"/>
                </a:solidFill>
              </a:defRPr>
            </a:lvl8pPr>
            <a:lvl9pPr algn="l">
              <a:defRPr sz="975" b="0">
                <a:solidFill>
                  <a:srgbClr val="C7D7E3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C7D7E3"/>
                </a:solidFill>
              </a:defRPr>
            </a:pPr>
            <a:r>
              <a:rPr sz="975" b="0">
                <a:solidFill>
                  <a:srgbClr val="C7D7E3"/>
                </a:solidFill>
              </a:rPr>
              <a:t>Cloud Computing  |  Shah &amp; Anchor Kutchhi Engineering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61841-E6E7-4494-8B5E-63AF63F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9CEB5-7C3A-489B-9955-0BD55FF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DC3AD-8C51-4EB3-8C99-0297BC80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38D9A-74C5-48C9-9630-793E940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BF1DE-CFB6-420B-A1E7-329882B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Application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097ED-C756-408E-9436-866F01A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37437-AB88-4B85-9B0E-BE41BA26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48100"/>
            <a:ext cx="29051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D1830-16A0-42C3-9F9F-3DD228C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6EB4"/>
                </a:solidFill>
              </a:defRPr>
            </a:defPPr>
            <a:lvl1pPr algn="l">
              <a:defRPr sz="1275" b="1">
                <a:solidFill>
                  <a:srgbClr val="146EB4"/>
                </a:solidFill>
              </a:defRPr>
            </a:lvl1pPr>
            <a:lvl2pPr algn="l">
              <a:defRPr sz="1275" b="1">
                <a:solidFill>
                  <a:srgbClr val="146EB4"/>
                </a:solidFill>
              </a:defRPr>
            </a:lvl2pPr>
            <a:lvl3pPr algn="l">
              <a:defRPr sz="1275" b="1">
                <a:solidFill>
                  <a:srgbClr val="146EB4"/>
                </a:solidFill>
              </a:defRPr>
            </a:lvl3pPr>
            <a:lvl4pPr algn="l">
              <a:defRPr sz="1275" b="1">
                <a:solidFill>
                  <a:srgbClr val="146EB4"/>
                </a:solidFill>
              </a:defRPr>
            </a:lvl4pPr>
            <a:lvl5pPr algn="l">
              <a:defRPr sz="1275" b="1">
                <a:solidFill>
                  <a:srgbClr val="146EB4"/>
                </a:solidFill>
              </a:defRPr>
            </a:lvl5pPr>
            <a:lvl6pPr algn="l">
              <a:defRPr sz="1275" b="1">
                <a:solidFill>
                  <a:srgbClr val="146EB4"/>
                </a:solidFill>
              </a:defRPr>
            </a:lvl6pPr>
            <a:lvl7pPr algn="l">
              <a:defRPr sz="1275" b="1">
                <a:solidFill>
                  <a:srgbClr val="146EB4"/>
                </a:solidFill>
              </a:defRPr>
            </a:lvl7pPr>
            <a:lvl8pPr algn="l">
              <a:defRPr sz="1275" b="1">
                <a:solidFill>
                  <a:srgbClr val="146EB4"/>
                </a:solidFill>
              </a:defRPr>
            </a:lvl8pPr>
            <a:lvl9pPr algn="l">
              <a:defRPr sz="12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6EB4"/>
                </a:solidFill>
              </a:defRPr>
            </a:pPr>
            <a:r>
              <a:rPr sz="1275" b="1">
                <a:solidFill>
                  <a:srgbClr val="146EB4"/>
                </a:solidFill>
              </a:rPr>
              <a:t>Relational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5BB6C-8F40-4329-B0AE-38ED29E3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Amazon RDS</a:t>
            </a:r>
          </a:p>
        </p:txBody>
      </p:sp>
    </p:spTree>
    <p:extLst>
      <p:ext uri="{BB962C8B-B14F-4D97-AF65-F5344CB8AC3E}">
        <p14:creationId xmlns:p14="http://schemas.microsoft.com/office/powerpoint/2010/main" val="1031266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DD195-33D0-4A4A-A60E-9B4A5781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TaskFlow Cloud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E030E-F613-4757-8E96-617E0FFA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BEF56-27FE-4443-8700-36ED1E97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5C96-C6D1-4688-AEC7-95DD0EB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DE22D-CA3D-48DB-8ABD-B3FD5C9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86581"/>
                </a:solidFill>
              </a:defRPr>
            </a:defPPr>
            <a:lvl1pPr algn="l">
              <a:defRPr sz="1650" b="0">
                <a:solidFill>
                  <a:srgbClr val="486581"/>
                </a:solidFill>
              </a:defRPr>
            </a:lvl1pPr>
            <a:lvl2pPr algn="l">
              <a:defRPr sz="1650" b="0">
                <a:solidFill>
                  <a:srgbClr val="486581"/>
                </a:solidFill>
              </a:defRPr>
            </a:lvl2pPr>
            <a:lvl3pPr algn="l">
              <a:defRPr sz="1650" b="0">
                <a:solidFill>
                  <a:srgbClr val="486581"/>
                </a:solidFill>
              </a:defRPr>
            </a:lvl3pPr>
            <a:lvl4pPr algn="l">
              <a:defRPr sz="1650" b="0">
                <a:solidFill>
                  <a:srgbClr val="486581"/>
                </a:solidFill>
              </a:defRPr>
            </a:lvl4pPr>
            <a:lvl5pPr algn="l">
              <a:defRPr sz="1650" b="0">
                <a:solidFill>
                  <a:srgbClr val="486581"/>
                </a:solidFill>
              </a:defRPr>
            </a:lvl5pPr>
            <a:lvl6pPr algn="l">
              <a:defRPr sz="1650" b="0">
                <a:solidFill>
                  <a:srgbClr val="486581"/>
                </a:solidFill>
              </a:defRPr>
            </a:lvl6pPr>
            <a:lvl7pPr algn="l">
              <a:defRPr sz="1650" b="0">
                <a:solidFill>
                  <a:srgbClr val="486581"/>
                </a:solidFill>
              </a:defRPr>
            </a:lvl7pPr>
            <a:lvl8pPr algn="l">
              <a:defRPr sz="1650" b="0">
                <a:solidFill>
                  <a:srgbClr val="486581"/>
                </a:solidFill>
              </a:defRPr>
            </a:lvl8pPr>
            <a:lvl9pPr algn="l">
              <a:defRPr sz="16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A web application for students to plan academic work and monitor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10DCD-F6E7-4737-BCF5-EEEB322D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857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AC13-12AF-4DC2-8727-8D362811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</a:defRPr>
            </a:defPPr>
            <a:lvl1pPr algn="l">
              <a:defRPr sz="1725" b="1">
                <a:solidFill>
                  <a:srgbClr val="102A43"/>
                </a:solidFill>
              </a:defRPr>
            </a:lvl1pPr>
            <a:lvl2pPr algn="l">
              <a:defRPr sz="1725" b="1">
                <a:solidFill>
                  <a:srgbClr val="102A43"/>
                </a:solidFill>
              </a:defRPr>
            </a:lvl2pPr>
            <a:lvl3pPr algn="l">
              <a:defRPr sz="1725" b="1">
                <a:solidFill>
                  <a:srgbClr val="102A43"/>
                </a:solidFill>
              </a:defRPr>
            </a:lvl3pPr>
            <a:lvl4pPr algn="l">
              <a:defRPr sz="1725" b="1">
                <a:solidFill>
                  <a:srgbClr val="102A43"/>
                </a:solidFill>
              </a:defRPr>
            </a:lvl4pPr>
            <a:lvl5pPr algn="l">
              <a:defRPr sz="1725" b="1">
                <a:solidFill>
                  <a:srgbClr val="102A43"/>
                </a:solidFill>
              </a:defRPr>
            </a:lvl5pPr>
            <a:lvl6pPr algn="l">
              <a:defRPr sz="1725" b="1">
                <a:solidFill>
                  <a:srgbClr val="102A43"/>
                </a:solidFill>
              </a:defRPr>
            </a:lvl6pPr>
            <a:lvl7pPr algn="l">
              <a:defRPr sz="1725" b="1">
                <a:solidFill>
                  <a:srgbClr val="102A43"/>
                </a:solidFill>
              </a:defRPr>
            </a:lvl7pPr>
            <a:lvl8pPr algn="l">
              <a:defRPr sz="1725" b="1">
                <a:solidFill>
                  <a:srgbClr val="102A43"/>
                </a:solidFill>
              </a:defRPr>
            </a:lvl8pPr>
            <a:lvl9pPr algn="l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Student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8B3CE-F610-4B9F-B80F-93367F3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5904A-208D-4658-8DA8-972BC64B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Create, edit and complete personal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EE014-30A3-41ED-9626-B4240F8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DB681-964A-470F-A301-073F9364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Filter by subject, priority, status and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11553-57C3-4CC3-BF8C-3308E2B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1B267-11C6-4F8F-A597-A79DF5F5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09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dashboard totals and upcoming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44BA7-3E07-435E-80D8-C552B75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20F1B-C735-4B82-B6BE-D53D4A8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Upload and manage study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7EC87-C10E-4AE0-88F8-20CC85B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429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9470D-9148-4075-8170-5332867E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cloud services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E9F4-8BD8-4CEE-94FD-6B3227C5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9EAF7"/>
                </a:solidFill>
              </a:defRPr>
            </a:defPPr>
            <a:lvl1pPr algn="l">
              <a:defRPr sz="1425" b="0">
                <a:solidFill>
                  <a:srgbClr val="D9EAF7"/>
                </a:solidFill>
              </a:defRPr>
            </a:lvl1pPr>
            <a:lvl2pPr algn="l">
              <a:defRPr sz="1425" b="0">
                <a:solidFill>
                  <a:srgbClr val="D9EAF7"/>
                </a:solidFill>
              </a:defRPr>
            </a:lvl2pPr>
            <a:lvl3pPr algn="l">
              <a:defRPr sz="1425" b="0">
                <a:solidFill>
                  <a:srgbClr val="D9EAF7"/>
                </a:solidFill>
              </a:defRPr>
            </a:lvl3pPr>
            <a:lvl4pPr algn="l">
              <a:defRPr sz="1425" b="0">
                <a:solidFill>
                  <a:srgbClr val="D9EAF7"/>
                </a:solidFill>
              </a:defRPr>
            </a:lvl4pPr>
            <a:lvl5pPr algn="l">
              <a:defRPr sz="1425" b="0">
                <a:solidFill>
                  <a:srgbClr val="D9EAF7"/>
                </a:solidFill>
              </a:defRPr>
            </a:lvl5pPr>
            <a:lvl6pPr algn="l">
              <a:defRPr sz="1425" b="0">
                <a:solidFill>
                  <a:srgbClr val="D9EAF7"/>
                </a:solidFill>
              </a:defRPr>
            </a:lvl6pPr>
            <a:lvl7pPr algn="l">
              <a:defRPr sz="1425" b="0">
                <a:solidFill>
                  <a:srgbClr val="D9EAF7"/>
                </a:solidFill>
              </a:defRPr>
            </a:lvl7pPr>
            <a:lvl8pPr algn="l">
              <a:defRPr sz="1425" b="0">
                <a:solidFill>
                  <a:srgbClr val="D9EAF7"/>
                </a:solidFill>
              </a:defRPr>
            </a:lvl8pPr>
            <a:lvl9pPr algn="l">
              <a:defRPr sz="1425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9EAF7"/>
                </a:solidFill>
              </a:defRPr>
            </a:pPr>
            <a:r>
              <a:rPr sz="1425" b="0">
                <a:solidFill>
                  <a:srgbClr val="D9EAF7"/>
                </a:solidFill>
              </a:rPr>
              <a:t>TaskFlow separates the browser interface, API processing and database records. Each layer has a clear responsibility in the planned AWS deployment.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DB192-EDA4-4701-BFF9-BD024227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17DCA-F7A3-442D-B944-083C7AB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AMPLIFY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B786C-C0A4-486E-9DD3-7EB1D78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76D92-E000-4BD4-A42F-63B2AC7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FB740-1CB9-48A3-A234-1371750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66204-597E-4394-B8D7-EF64B9D0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624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2130757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D329B-24C7-49AD-92FF-DEE3F636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Planned TaskFlow Cloud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89C7-D37E-47B8-8809-085AFD18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BE77B-0F3C-4CFD-86C2-6A0EA9DA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DC67F-A13D-4702-A0D8-48DB0F7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93807-5F70-4D95-8A0A-B4ACC5B7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486581"/>
                </a:solidFill>
              </a:defRPr>
            </a:defPPr>
            <a:lvl1pPr algn="l">
              <a:defRPr sz="1350" b="0">
                <a:solidFill>
                  <a:srgbClr val="486581"/>
                </a:solidFill>
              </a:defRPr>
            </a:lvl1pPr>
            <a:lvl2pPr algn="l">
              <a:defRPr sz="1350" b="0">
                <a:solidFill>
                  <a:srgbClr val="486581"/>
                </a:solidFill>
              </a:defRPr>
            </a:lvl2pPr>
            <a:lvl3pPr algn="l">
              <a:defRPr sz="1350" b="0">
                <a:solidFill>
                  <a:srgbClr val="486581"/>
                </a:solidFill>
              </a:defRPr>
            </a:lvl3pPr>
            <a:lvl4pPr algn="l">
              <a:defRPr sz="1350" b="0">
                <a:solidFill>
                  <a:srgbClr val="486581"/>
                </a:solidFill>
              </a:defRPr>
            </a:lvl4pPr>
            <a:lvl5pPr algn="l">
              <a:defRPr sz="1350" b="0">
                <a:solidFill>
                  <a:srgbClr val="486581"/>
                </a:solidFill>
              </a:defRPr>
            </a:lvl5pPr>
            <a:lvl6pPr algn="l">
              <a:defRPr sz="1350" b="0">
                <a:solidFill>
                  <a:srgbClr val="486581"/>
                </a:solidFill>
              </a:defRPr>
            </a:lvl6pPr>
            <a:lvl7pPr algn="l">
              <a:defRPr sz="1350" b="0">
                <a:solidFill>
                  <a:srgbClr val="486581"/>
                </a:solidFill>
              </a:defRPr>
            </a:lvl7pPr>
            <a:lvl8pPr algn="l">
              <a:defRPr sz="1350" b="0">
                <a:solidFill>
                  <a:srgbClr val="486581"/>
                </a:solidFill>
              </a:defRPr>
            </a:lvl8pPr>
            <a:lvl9pPr algn="l">
              <a:defRPr sz="13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The report describes a cloud-ready design. It does not claim a live AWS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3A231-93E8-426D-A38E-E5B822B6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ED42B-A1A6-442C-83DC-0DCE644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Student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39ACF-4B42-4B75-922E-AD0C48C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React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A003-2C0A-4005-AACD-F67E90A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EB155-64F2-4653-8574-E3564E5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57A16-D4B3-4E0E-8923-6C75C4E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BCBF7-188A-488D-9075-765A549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Hosts the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C5BE0-30A9-4D6E-9D3B-2816DA0F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F2CE6-6F3D-4BDA-9656-12A0631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A8A85-3D7E-4CD1-89EE-EC5090BC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8C2FC-D7D3-4F8D-BDC0-6FF16DB9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Runs Flask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54D79-BF8D-448E-95E0-89A0930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00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46EB4"/>
                </a:solidFill>
              </a:defRPr>
            </a:defPPr>
            <a:lvl1pPr algn="ctr">
              <a:defRPr sz="2250" b="1">
                <a:solidFill>
                  <a:srgbClr val="146EB4"/>
                </a:solidFill>
              </a:defRPr>
            </a:lvl1pPr>
            <a:lvl2pPr algn="ctr">
              <a:defRPr sz="2250" b="1">
                <a:solidFill>
                  <a:srgbClr val="146EB4"/>
                </a:solidFill>
              </a:defRPr>
            </a:lvl2pPr>
            <a:lvl3pPr algn="ctr">
              <a:defRPr sz="2250" b="1">
                <a:solidFill>
                  <a:srgbClr val="146EB4"/>
                </a:solidFill>
              </a:defRPr>
            </a:lvl3pPr>
            <a:lvl4pPr algn="ctr">
              <a:defRPr sz="2250" b="1">
                <a:solidFill>
                  <a:srgbClr val="146EB4"/>
                </a:solidFill>
              </a:defRPr>
            </a:lvl4pPr>
            <a:lvl5pPr algn="ctr">
              <a:defRPr sz="2250" b="1">
                <a:solidFill>
                  <a:srgbClr val="146EB4"/>
                </a:solidFill>
              </a:defRPr>
            </a:lvl5pPr>
            <a:lvl6pPr algn="ctr">
              <a:defRPr sz="2250" b="1">
                <a:solidFill>
                  <a:srgbClr val="146EB4"/>
                </a:solidFill>
              </a:defRPr>
            </a:lvl6pPr>
            <a:lvl7pPr algn="ctr">
              <a:defRPr sz="2250" b="1">
                <a:solidFill>
                  <a:srgbClr val="146EB4"/>
                </a:solidFill>
              </a:defRPr>
            </a:lvl7pPr>
            <a:lvl8pPr algn="ctr">
              <a:defRPr sz="2250" b="1">
                <a:solidFill>
                  <a:srgbClr val="146EB4"/>
                </a:solidFill>
              </a:defRPr>
            </a:lvl8pPr>
            <a:lvl9pPr algn="ctr">
              <a:defRPr sz="225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46EB4"/>
                </a:solidFill>
              </a:defRPr>
            </a:pPr>
            <a:r>
              <a:rPr sz="225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93247-D650-476F-ADDD-F87B94A6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5EC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E0DDC-3108-4559-A095-B8752D3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Amazon 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49AA2-E986-4B75-A297-9ECA50E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62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486581"/>
                </a:solidFill>
              </a:defRPr>
            </a:defPPr>
            <a:lvl1pPr algn="ctr">
              <a:defRPr sz="1125" b="0">
                <a:solidFill>
                  <a:srgbClr val="486581"/>
                </a:solidFill>
              </a:defRPr>
            </a:lvl1pPr>
            <a:lvl2pPr algn="ctr">
              <a:defRPr sz="1125" b="0">
                <a:solidFill>
                  <a:srgbClr val="486581"/>
                </a:solidFill>
              </a:defRPr>
            </a:lvl2pPr>
            <a:lvl3pPr algn="ctr">
              <a:defRPr sz="1125" b="0">
                <a:solidFill>
                  <a:srgbClr val="486581"/>
                </a:solidFill>
              </a:defRPr>
            </a:lvl3pPr>
            <a:lvl4pPr algn="ctr">
              <a:defRPr sz="1125" b="0">
                <a:solidFill>
                  <a:srgbClr val="486581"/>
                </a:solidFill>
              </a:defRPr>
            </a:lvl4pPr>
            <a:lvl5pPr algn="ctr">
              <a:defRPr sz="1125" b="0">
                <a:solidFill>
                  <a:srgbClr val="486581"/>
                </a:solidFill>
              </a:defRPr>
            </a:lvl5pPr>
            <a:lvl6pPr algn="ctr">
              <a:defRPr sz="1125" b="0">
                <a:solidFill>
                  <a:srgbClr val="486581"/>
                </a:solidFill>
              </a:defRPr>
            </a:lvl6pPr>
            <a:lvl7pPr algn="ctr">
              <a:defRPr sz="1125" b="0">
                <a:solidFill>
                  <a:srgbClr val="486581"/>
                </a:solidFill>
              </a:defRPr>
            </a:lvl7pPr>
            <a:lvl8pPr algn="ctr">
              <a:defRPr sz="1125" b="0">
                <a:solidFill>
                  <a:srgbClr val="486581"/>
                </a:solidFill>
              </a:defRPr>
            </a:lvl8pPr>
            <a:lvl9pPr algn="ctr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Stores PostgreSQL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91B45-BC51-4F55-A165-90551BE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HTTPS 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406F-8420-410B-AA28-C56C9A8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REST and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F64BD-22D3-4935-AD6E-F680875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486581"/>
                </a:solidFill>
              </a:defRPr>
            </a:defPPr>
            <a:lvl1pPr algn="ctr">
              <a:defRPr sz="1200" b="1">
                <a:solidFill>
                  <a:srgbClr val="486581"/>
                </a:solidFill>
              </a:defRPr>
            </a:lvl1pPr>
            <a:lvl2pPr algn="ctr">
              <a:defRPr sz="1200" b="1">
                <a:solidFill>
                  <a:srgbClr val="486581"/>
                </a:solidFill>
              </a:defRPr>
            </a:lvl2pPr>
            <a:lvl3pPr algn="ctr">
              <a:defRPr sz="1200" b="1">
                <a:solidFill>
                  <a:srgbClr val="486581"/>
                </a:solidFill>
              </a:defRPr>
            </a:lvl3pPr>
            <a:lvl4pPr algn="ctr">
              <a:defRPr sz="1200" b="1">
                <a:solidFill>
                  <a:srgbClr val="486581"/>
                </a:solidFill>
              </a:defRPr>
            </a:lvl4pPr>
            <a:lvl5pPr algn="ctr">
              <a:defRPr sz="1200" b="1">
                <a:solidFill>
                  <a:srgbClr val="486581"/>
                </a:solidFill>
              </a:defRPr>
            </a:lvl5pPr>
            <a:lvl6pPr algn="ctr">
              <a:defRPr sz="1200" b="1">
                <a:solidFill>
                  <a:srgbClr val="486581"/>
                </a:solidFill>
              </a:defRPr>
            </a:lvl6pPr>
            <a:lvl7pPr algn="ctr">
              <a:defRPr sz="1200" b="1">
                <a:solidFill>
                  <a:srgbClr val="486581"/>
                </a:solidFill>
              </a:defRPr>
            </a:lvl7pPr>
            <a:lvl8pPr algn="ctr">
              <a:defRPr sz="1200" b="1">
                <a:solidFill>
                  <a:srgbClr val="486581"/>
                </a:solidFill>
              </a:defRPr>
            </a:lvl8pPr>
            <a:lvl9pPr algn="ctr">
              <a:defRPr sz="12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433214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7AED0-E597-42F2-A35F-0D2DC906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AWS Amplify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C12B9-7778-4B33-B3EA-F04C61E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F97B2-4936-49F2-880C-1DC2FD6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2C7EC-60FC-49E8-BB26-AF97AE4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FD9C5-40E5-454A-94D5-C7EA5181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7F11D-7967-47AF-8480-CDB4137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AWS AMPLIFY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A857F-5CFB-494E-A448-DF62425A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 managed service for building and hosting web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33159-3F18-4B5B-8645-B6C4D6C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Amplify can host a static web frontend, connect deployments to a source repository, and provide a public HTTPS address for the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2D189-F9A6-4DF0-9543-0CF5A19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4766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CE784-B00A-4E82-A4BE-58F5EE19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Amplify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A16E2-6BC1-4D74-BA21-4AECA000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D8052-860E-4D34-9803-6001C94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Build the React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7E9AF-4B3D-4830-8B9C-47801CFA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6B22A-B6C6-4556-BD7F-ADA7B2CF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Publish static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41AE-17C0-4A6D-ACB7-596D651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7111D-8893-4956-BA5B-4123B0C9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Serve the web app over HTTPS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609C3-7D82-40D7-8B3B-19AB42C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486581"/>
                </a:solidFill>
              </a:defRPr>
            </a:defPPr>
            <a:lvl1pPr algn="ctr">
              <a:defRPr sz="1200" b="0">
                <a:solidFill>
                  <a:srgbClr val="486581"/>
                </a:solidFill>
              </a:defRPr>
            </a:lvl1pPr>
            <a:lvl2pPr algn="ctr">
              <a:defRPr sz="1200" b="0">
                <a:solidFill>
                  <a:srgbClr val="486581"/>
                </a:solidFill>
              </a:defRPr>
            </a:lvl2pPr>
            <a:lvl3pPr algn="ctr">
              <a:defRPr sz="1200" b="0">
                <a:solidFill>
                  <a:srgbClr val="486581"/>
                </a:solidFill>
              </a:defRPr>
            </a:lvl3pPr>
            <a:lvl4pPr algn="ctr">
              <a:defRPr sz="1200" b="0">
                <a:solidFill>
                  <a:srgbClr val="486581"/>
                </a:solidFill>
              </a:defRPr>
            </a:lvl4pPr>
            <a:lvl5pPr algn="ctr">
              <a:defRPr sz="1200" b="0">
                <a:solidFill>
                  <a:srgbClr val="486581"/>
                </a:solidFill>
              </a:defRPr>
            </a:lvl5pPr>
            <a:lvl6pPr algn="ctr">
              <a:defRPr sz="1200" b="0">
                <a:solidFill>
                  <a:srgbClr val="486581"/>
                </a:solidFill>
              </a:defRPr>
            </a:lvl6pPr>
            <a:lvl7pPr algn="ctr">
              <a:defRPr sz="1200" b="0">
                <a:solidFill>
                  <a:srgbClr val="486581"/>
                </a:solidFill>
              </a:defRPr>
            </a:lvl7pPr>
            <a:lvl8pPr algn="ctr">
              <a:defRPr sz="1200" b="0">
                <a:solidFill>
                  <a:srgbClr val="486581"/>
                </a:solidFill>
              </a:defRPr>
            </a:lvl8pPr>
            <a:lvl9pPr algn="ctr">
              <a:defRPr sz="12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Frontend hosting layer</a:t>
            </a:r>
          </a:p>
        </p:txBody>
      </p:sp>
    </p:spTree>
    <p:extLst>
      <p:ext uri="{BB962C8B-B14F-4D97-AF65-F5344CB8AC3E}">
        <p14:creationId xmlns:p14="http://schemas.microsoft.com/office/powerpoint/2010/main" val="1213921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A9171-E2FE-45AB-970A-F8B042C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AWS Amplify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A80FE-7E0C-40A4-8D80-048811B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256A4-75EF-4A53-A56F-0958174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A55D-61DA-402D-BA12-6C0BE343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6618C-B56C-4757-B571-468738E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TaskFlow uses Amplify as the planned home for the React and Vite frontend.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2F40E-843A-46CD-B203-90EB615D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7158D-9582-492C-89B5-DC64BA2B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What users 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67187-E55A-4CED-BCDE-3D2778CE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9CCE4-AE3A-4659-B581-417B35B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Login and registration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A347F-1592-4140-9A01-5918CFE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6C49C-3F55-4F73-8E9F-DCA5EFD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Task list and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F344D-4234-49DA-90BD-8AA45536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34704-5D47-46BC-B678-42F9E143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Profile and file screens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DBE68-20D2-4FC8-8DE2-DB4FA12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AEE50-6787-48E3-BC45-184929A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What Amplify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74FD9-2621-4730-A46D-142EF87B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6995F-3E72-4BF2-8DC0-F52D376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Builds the Vite production bundle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B8B29-A58E-4522-A6B9-40038483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A5D0F-C5D2-4B20-817E-CCD402B0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Hosts static frontend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CF982-0B41-4EA0-82D0-8C8252E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E0152-8D17-402E-A0E7-C53A921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Delivers the browser 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43EAF-AF65-4CCB-BFFE-DF2BEA4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238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4C662-B17C-4D22-92FA-ACE29B0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Project 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8F6FF-BF12-47B3-A82C-6A3BCC4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7A45F-B233-4B1F-9005-BEE344A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670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No server setup for the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C0A5C-E52A-4620-9127-39A67A1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06592-1ACC-4E1F-ADA9-5097F227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HTTPS hosting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24FC6-E8B1-4D16-9533-4BA3AFC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DF072-0630-452F-BE29-313B0B10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19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Clear separation from the API</a:t>
            </a:r>
          </a:p>
        </p:txBody>
      </p:sp>
    </p:spTree>
    <p:extLst>
      <p:ext uri="{BB962C8B-B14F-4D97-AF65-F5344CB8AC3E}">
        <p14:creationId xmlns:p14="http://schemas.microsoft.com/office/powerpoint/2010/main" val="610001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345B4-FAD9-4AA2-BD12-ED2766D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EC2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A022E-EC10-4A18-ADD7-A59502B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F9445-BF59-413D-917F-D884EF23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703C-F63A-4945-8E2E-F569D18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E757D-4132-4ABC-87CF-424DC926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ABBE7-DA5D-4B4F-868D-058DC70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AMAZON EC2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7FF5A-508A-4648-9D24-4F07DF0C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</a:defRPr>
            </a:defPPr>
            <a:lvl1pPr algn="l">
              <a:defRPr sz="2325" b="1">
                <a:solidFill>
                  <a:srgbClr val="102A43"/>
                </a:solidFill>
              </a:defRPr>
            </a:lvl1pPr>
            <a:lvl2pPr algn="l">
              <a:defRPr sz="2325" b="1">
                <a:solidFill>
                  <a:srgbClr val="102A43"/>
                </a:solidFill>
              </a:defRPr>
            </a:lvl2pPr>
            <a:lvl3pPr algn="l">
              <a:defRPr sz="2325" b="1">
                <a:solidFill>
                  <a:srgbClr val="102A43"/>
                </a:solidFill>
              </a:defRPr>
            </a:lvl3pPr>
            <a:lvl4pPr algn="l">
              <a:defRPr sz="2325" b="1">
                <a:solidFill>
                  <a:srgbClr val="102A43"/>
                </a:solidFill>
              </a:defRPr>
            </a:lvl4pPr>
            <a:lvl5pPr algn="l">
              <a:defRPr sz="2325" b="1">
                <a:solidFill>
                  <a:srgbClr val="102A43"/>
                </a:solidFill>
              </a:defRPr>
            </a:lvl5pPr>
            <a:lvl6pPr algn="l">
              <a:defRPr sz="2325" b="1">
                <a:solidFill>
                  <a:srgbClr val="102A43"/>
                </a:solidFill>
              </a:defRPr>
            </a:lvl6pPr>
            <a:lvl7pPr algn="l">
              <a:defRPr sz="2325" b="1">
                <a:solidFill>
                  <a:srgbClr val="102A43"/>
                </a:solidFill>
              </a:defRPr>
            </a:lvl7pPr>
            <a:lvl8pPr algn="l">
              <a:defRPr sz="2325" b="1">
                <a:solidFill>
                  <a:srgbClr val="102A43"/>
                </a:solidFill>
              </a:defRPr>
            </a:lvl8pPr>
            <a:lvl9pPr algn="l">
              <a:defRPr sz="23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Virtual servers that run application software in 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9A2BA-39F8-48C3-A937-137CFE3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EC2 provides compute capacity. Teams choose an instance, install the required software and run the application process on the server.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4A871-E02A-40C1-B16E-A23223DB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28750"/>
            <a:ext cx="3524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B1EAE-3569-4575-86AA-20B45C91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Typical EC2 software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CD7DE-D8E9-4537-B3CD-E80EECA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95DEB-FE04-4D6E-8C53-A27850A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Gunicorn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78C98-EBC4-4464-8AD8-859CF1D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6EB4"/>
                </a:solidFill>
              </a:defRPr>
            </a:defPPr>
            <a:lvl1pPr algn="l">
              <a:defRPr sz="1500" b="1">
                <a:solidFill>
                  <a:srgbClr val="146EB4"/>
                </a:solidFill>
              </a:defRPr>
            </a:lvl1pPr>
            <a:lvl2pPr algn="l">
              <a:defRPr sz="1500" b="1">
                <a:solidFill>
                  <a:srgbClr val="146EB4"/>
                </a:solidFill>
              </a:defRPr>
            </a:lvl2pPr>
            <a:lvl3pPr algn="l">
              <a:defRPr sz="1500" b="1">
                <a:solidFill>
                  <a:srgbClr val="146EB4"/>
                </a:solidFill>
              </a:defRPr>
            </a:lvl3pPr>
            <a:lvl4pPr algn="l">
              <a:defRPr sz="1500" b="1">
                <a:solidFill>
                  <a:srgbClr val="146EB4"/>
                </a:solidFill>
              </a:defRPr>
            </a:lvl4pPr>
            <a:lvl5pPr algn="l">
              <a:defRPr sz="1500" b="1">
                <a:solidFill>
                  <a:srgbClr val="146EB4"/>
                </a:solidFill>
              </a:defRPr>
            </a:lvl5pPr>
            <a:lvl6pPr algn="l">
              <a:defRPr sz="1500" b="1">
                <a:solidFill>
                  <a:srgbClr val="146EB4"/>
                </a:solidFill>
              </a:defRPr>
            </a:lvl6pPr>
            <a:lvl7pPr algn="l">
              <a:defRPr sz="1500" b="1">
                <a:solidFill>
                  <a:srgbClr val="146EB4"/>
                </a:solidFill>
              </a:defRPr>
            </a:lvl7pPr>
            <a:lvl8pPr algn="l">
              <a:defRPr sz="1500" b="1">
                <a:solidFill>
                  <a:srgbClr val="146EB4"/>
                </a:solidFill>
              </a:defRPr>
            </a:lvl8pPr>
            <a:lvl9pPr algn="l">
              <a:defRPr sz="15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6EB4"/>
                </a:solidFill>
              </a:defRPr>
            </a:pPr>
            <a:r>
              <a:rPr sz="1500" b="1">
                <a:solidFill>
                  <a:srgbClr val="146EB4"/>
                </a:solidFill>
              </a:rPr>
              <a:t>Flask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6BD39-8B60-4078-BFB3-E2AC2F2B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86581"/>
                </a:solidFill>
              </a:defRPr>
            </a:defPPr>
            <a:lvl1pPr algn="l">
              <a:defRPr sz="1125" b="0">
                <a:solidFill>
                  <a:srgbClr val="486581"/>
                </a:solidFill>
              </a:defRPr>
            </a:lvl1pPr>
            <a:lvl2pPr algn="l">
              <a:defRPr sz="1125" b="0">
                <a:solidFill>
                  <a:srgbClr val="486581"/>
                </a:solidFill>
              </a:defRPr>
            </a:lvl2pPr>
            <a:lvl3pPr algn="l">
              <a:defRPr sz="1125" b="0">
                <a:solidFill>
                  <a:srgbClr val="486581"/>
                </a:solidFill>
              </a:defRPr>
            </a:lvl3pPr>
            <a:lvl4pPr algn="l">
              <a:defRPr sz="1125" b="0">
                <a:solidFill>
                  <a:srgbClr val="486581"/>
                </a:solidFill>
              </a:defRPr>
            </a:lvl4pPr>
            <a:lvl5pPr algn="l">
              <a:defRPr sz="1125" b="0">
                <a:solidFill>
                  <a:srgbClr val="486581"/>
                </a:solidFill>
              </a:defRPr>
            </a:lvl5pPr>
            <a:lvl6pPr algn="l">
              <a:defRPr sz="1125" b="0">
                <a:solidFill>
                  <a:srgbClr val="486581"/>
                </a:solidFill>
              </a:defRPr>
            </a:lvl6pPr>
            <a:lvl7pPr algn="l">
              <a:defRPr sz="1125" b="0">
                <a:solidFill>
                  <a:srgbClr val="486581"/>
                </a:solidFill>
              </a:defRPr>
            </a:lvl7pPr>
            <a:lvl8pPr algn="l">
              <a:defRPr sz="1125" b="0">
                <a:solidFill>
                  <a:srgbClr val="486581"/>
                </a:solidFill>
              </a:defRPr>
            </a:lvl8pPr>
            <a:lvl9pPr algn="l">
              <a:defRPr sz="11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86581"/>
                </a:solidFill>
              </a:defRPr>
            </a:pPr>
            <a:r>
              <a:rPr sz="1125" b="0">
                <a:solidFill>
                  <a:srgbClr val="486581"/>
                </a:solidFill>
              </a:rPr>
              <a:t>Linux instance and security group</a:t>
            </a:r>
          </a:p>
        </p:txBody>
      </p:sp>
    </p:spTree>
    <p:extLst>
      <p:ext uri="{BB962C8B-B14F-4D97-AF65-F5344CB8AC3E}">
        <p14:creationId xmlns:p14="http://schemas.microsoft.com/office/powerpoint/2010/main" val="1783341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694EB-257A-49B8-A81F-38F4AE4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EC2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D1A4F-3105-4245-A490-8E63CA8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B0E34-C9AD-4874-838A-52C2984E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E529C-E597-4BB5-9E5F-04FDC06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C5989-A3A8-4376-BE81-AA36D75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486581"/>
                </a:solidFill>
              </a:defRPr>
            </a:defPPr>
            <a:lvl1pPr algn="l">
              <a:defRPr sz="1650" b="0">
                <a:solidFill>
                  <a:srgbClr val="486581"/>
                </a:solidFill>
              </a:defRPr>
            </a:lvl1pPr>
            <a:lvl2pPr algn="l">
              <a:defRPr sz="1650" b="0">
                <a:solidFill>
                  <a:srgbClr val="486581"/>
                </a:solidFill>
              </a:defRPr>
            </a:lvl2pPr>
            <a:lvl3pPr algn="l">
              <a:defRPr sz="1650" b="0">
                <a:solidFill>
                  <a:srgbClr val="486581"/>
                </a:solidFill>
              </a:defRPr>
            </a:lvl3pPr>
            <a:lvl4pPr algn="l">
              <a:defRPr sz="1650" b="0">
                <a:solidFill>
                  <a:srgbClr val="486581"/>
                </a:solidFill>
              </a:defRPr>
            </a:lvl4pPr>
            <a:lvl5pPr algn="l">
              <a:defRPr sz="1650" b="0">
                <a:solidFill>
                  <a:srgbClr val="486581"/>
                </a:solidFill>
              </a:defRPr>
            </a:lvl5pPr>
            <a:lvl6pPr algn="l">
              <a:defRPr sz="1650" b="0">
                <a:solidFill>
                  <a:srgbClr val="486581"/>
                </a:solidFill>
              </a:defRPr>
            </a:lvl6pPr>
            <a:lvl7pPr algn="l">
              <a:defRPr sz="1650" b="0">
                <a:solidFill>
                  <a:srgbClr val="486581"/>
                </a:solidFill>
              </a:defRPr>
            </a:lvl7pPr>
            <a:lvl8pPr algn="l">
              <a:defRPr sz="1650" b="0">
                <a:solidFill>
                  <a:srgbClr val="486581"/>
                </a:solidFill>
              </a:defRPr>
            </a:lvl8pPr>
            <a:lvl9pPr algn="l">
              <a:defRPr sz="16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The planned EC2 instance hosts the Flask REST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C8B71-4795-4440-B178-009928E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C714D-103A-4578-998A-29177641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 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E5479-61C1-49E7-82CD-DFC7DA31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browser sends an authenticated API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3747A-3DCD-4ABA-9EC7-AFD370E2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1E1C4-D95F-4374-931B-8E776E3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  API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922E7-90C2-4735-9B36-280A7EC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Flask validates JWT identity and applies task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E27D1-A807-4AD3-8237-027096C8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476500" cy="252412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6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7229F-086F-49E4-A62F-70C9C436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3 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5B4E5-F805-406F-BC88-2659760C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API returns JSON for the React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AB6D2-E334-44E8-A218-0B7ED6F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46EB4"/>
                </a:solidFill>
              </a:defRPr>
            </a:defPPr>
            <a:lvl1pPr algn="ctr">
              <a:defRPr sz="2400" b="1">
                <a:solidFill>
                  <a:srgbClr val="146EB4"/>
                </a:solidFill>
              </a:defRPr>
            </a:lvl1pPr>
            <a:lvl2pPr algn="ctr">
              <a:defRPr sz="2400" b="1">
                <a:solidFill>
                  <a:srgbClr val="146EB4"/>
                </a:solidFill>
              </a:defRPr>
            </a:lvl2pPr>
            <a:lvl3pPr algn="ctr">
              <a:defRPr sz="2400" b="1">
                <a:solidFill>
                  <a:srgbClr val="146EB4"/>
                </a:solidFill>
              </a:defRPr>
            </a:lvl3pPr>
            <a:lvl4pPr algn="ctr">
              <a:defRPr sz="2400" b="1">
                <a:solidFill>
                  <a:srgbClr val="146EB4"/>
                </a:solidFill>
              </a:defRPr>
            </a:lvl4pPr>
            <a:lvl5pPr algn="ctr">
              <a:defRPr sz="2400" b="1">
                <a:solidFill>
                  <a:srgbClr val="146EB4"/>
                </a:solidFill>
              </a:defRPr>
            </a:lvl5pPr>
            <a:lvl6pPr algn="ctr">
              <a:defRPr sz="2400" b="1">
                <a:solidFill>
                  <a:srgbClr val="146EB4"/>
                </a:solidFill>
              </a:defRPr>
            </a:lvl6pPr>
            <a:lvl7pPr algn="ctr">
              <a:defRPr sz="2400" b="1">
                <a:solidFill>
                  <a:srgbClr val="146EB4"/>
                </a:solidFill>
              </a:defRPr>
            </a:lvl7pPr>
            <a:lvl8pPr algn="ctr">
              <a:defRPr sz="2400" b="1">
                <a:solidFill>
                  <a:srgbClr val="146EB4"/>
                </a:solidFill>
              </a:defRPr>
            </a:lvl8pPr>
            <a:lvl9pPr algn="ctr">
              <a:defRPr sz="24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46EB4"/>
                </a:solidFill>
              </a:defRPr>
            </a:pPr>
            <a:r>
              <a:rPr sz="240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79ABD-099B-4144-BAA2-536B4BED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146EB4"/>
                </a:solidFill>
              </a:defRPr>
            </a:defPPr>
            <a:lvl1pPr algn="ctr">
              <a:defRPr sz="2400" b="1">
                <a:solidFill>
                  <a:srgbClr val="146EB4"/>
                </a:solidFill>
              </a:defRPr>
            </a:lvl1pPr>
            <a:lvl2pPr algn="ctr">
              <a:defRPr sz="2400" b="1">
                <a:solidFill>
                  <a:srgbClr val="146EB4"/>
                </a:solidFill>
              </a:defRPr>
            </a:lvl2pPr>
            <a:lvl3pPr algn="ctr">
              <a:defRPr sz="2400" b="1">
                <a:solidFill>
                  <a:srgbClr val="146EB4"/>
                </a:solidFill>
              </a:defRPr>
            </a:lvl3pPr>
            <a:lvl4pPr algn="ctr">
              <a:defRPr sz="2400" b="1">
                <a:solidFill>
                  <a:srgbClr val="146EB4"/>
                </a:solidFill>
              </a:defRPr>
            </a:lvl4pPr>
            <a:lvl5pPr algn="ctr">
              <a:defRPr sz="2400" b="1">
                <a:solidFill>
                  <a:srgbClr val="146EB4"/>
                </a:solidFill>
              </a:defRPr>
            </a:lvl5pPr>
            <a:lvl6pPr algn="ctr">
              <a:defRPr sz="2400" b="1">
                <a:solidFill>
                  <a:srgbClr val="146EB4"/>
                </a:solidFill>
              </a:defRPr>
            </a:lvl6pPr>
            <a:lvl7pPr algn="ctr">
              <a:defRPr sz="2400" b="1">
                <a:solidFill>
                  <a:srgbClr val="146EB4"/>
                </a:solidFill>
              </a:defRPr>
            </a:lvl7pPr>
            <a:lvl8pPr algn="ctr">
              <a:defRPr sz="2400" b="1">
                <a:solidFill>
                  <a:srgbClr val="146EB4"/>
                </a:solidFill>
              </a:defRPr>
            </a:lvl8pPr>
            <a:lvl9pPr algn="ctr">
              <a:defRPr sz="2400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46EB4"/>
                </a:solidFill>
              </a:defRPr>
            </a:pPr>
            <a:r>
              <a:rPr sz="2400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7B40E-12FE-4C08-8250-E7198CDB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486581"/>
                </a:solidFill>
              </a:defRPr>
            </a:defPPr>
            <a:lvl1pPr algn="ctr">
              <a:defRPr sz="1425" b="0">
                <a:solidFill>
                  <a:srgbClr val="486581"/>
                </a:solidFill>
              </a:defRPr>
            </a:lvl1pPr>
            <a:lvl2pPr algn="ctr">
              <a:defRPr sz="1425" b="0">
                <a:solidFill>
                  <a:srgbClr val="486581"/>
                </a:solidFill>
              </a:defRPr>
            </a:lvl2pPr>
            <a:lvl3pPr algn="ctr">
              <a:defRPr sz="1425" b="0">
                <a:solidFill>
                  <a:srgbClr val="486581"/>
                </a:solidFill>
              </a:defRPr>
            </a:lvl3pPr>
            <a:lvl4pPr algn="ctr">
              <a:defRPr sz="1425" b="0">
                <a:solidFill>
                  <a:srgbClr val="486581"/>
                </a:solidFill>
              </a:defRPr>
            </a:lvl4pPr>
            <a:lvl5pPr algn="ctr">
              <a:defRPr sz="1425" b="0">
                <a:solidFill>
                  <a:srgbClr val="486581"/>
                </a:solidFill>
              </a:defRPr>
            </a:lvl5pPr>
            <a:lvl6pPr algn="ctr">
              <a:defRPr sz="1425" b="0">
                <a:solidFill>
                  <a:srgbClr val="486581"/>
                </a:solidFill>
              </a:defRPr>
            </a:lvl6pPr>
            <a:lvl7pPr algn="ctr">
              <a:defRPr sz="1425" b="0">
                <a:solidFill>
                  <a:srgbClr val="486581"/>
                </a:solidFill>
              </a:defRPr>
            </a:lvl7pPr>
            <a:lvl8pPr algn="ctr">
              <a:defRPr sz="1425" b="0">
                <a:solidFill>
                  <a:srgbClr val="486581"/>
                </a:solidFill>
              </a:defRPr>
            </a:lvl8pPr>
            <a:lvl9pPr algn="ctr">
              <a:defRPr sz="142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486581"/>
                </a:solidFill>
              </a:defRPr>
            </a:pPr>
            <a:r>
              <a:rPr sz="1425" b="0">
                <a:solidFill>
                  <a:srgbClr val="486581"/>
                </a:solidFill>
              </a:rPr>
              <a:t>The API also controls access to private tasks and study-file actions.</a:t>
            </a:r>
          </a:p>
        </p:txBody>
      </p:sp>
    </p:spTree>
    <p:extLst>
      <p:ext uri="{BB962C8B-B14F-4D97-AF65-F5344CB8AC3E}">
        <p14:creationId xmlns:p14="http://schemas.microsoft.com/office/powerpoint/2010/main" val="880045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1D79E-B3A8-474B-8770-EB75C907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817F4-EA77-4D74-A051-5AADB9F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5FFB2-0380-4E80-ACCC-CAFD9B0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6DF15-CD0A-4AB0-A7AC-D90D202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42F38-8FB6-4F94-8F27-F2BEF63A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47CCB-6E87-41E2-80FE-723E0AD1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AMAZON 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8326-EFA7-45A8-ADAE-F849A27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 managed relational database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51FC-1891-4B76-B2F1-5779EF7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</a:defRPr>
            </a:defPPr>
            <a:lvl1pPr algn="l">
              <a:defRPr sz="1500" b="0">
                <a:solidFill>
                  <a:srgbClr val="102A43"/>
                </a:solidFill>
              </a:defRPr>
            </a:lvl1pPr>
            <a:lvl2pPr algn="l">
              <a:defRPr sz="1500" b="0">
                <a:solidFill>
                  <a:srgbClr val="102A43"/>
                </a:solidFill>
              </a:defRPr>
            </a:lvl2pPr>
            <a:lvl3pPr algn="l">
              <a:defRPr sz="1500" b="0">
                <a:solidFill>
                  <a:srgbClr val="102A43"/>
                </a:solidFill>
              </a:defRPr>
            </a:lvl3pPr>
            <a:lvl4pPr algn="l">
              <a:defRPr sz="1500" b="0">
                <a:solidFill>
                  <a:srgbClr val="102A43"/>
                </a:solidFill>
              </a:defRPr>
            </a:lvl4pPr>
            <a:lvl5pPr algn="l">
              <a:defRPr sz="1500" b="0">
                <a:solidFill>
                  <a:srgbClr val="102A43"/>
                </a:solidFill>
              </a:defRPr>
            </a:lvl5pPr>
            <a:lvl6pPr algn="l">
              <a:defRPr sz="1500" b="0">
                <a:solidFill>
                  <a:srgbClr val="102A43"/>
                </a:solidFill>
              </a:defRPr>
            </a:lvl6pPr>
            <a:lvl7pPr algn="l">
              <a:defRPr sz="1500" b="0">
                <a:solidFill>
                  <a:srgbClr val="102A43"/>
                </a:solidFill>
              </a:defRPr>
            </a:lvl7pPr>
            <a:lvl8pPr algn="l">
              <a:defRPr sz="1500" b="0">
                <a:solidFill>
                  <a:srgbClr val="102A43"/>
                </a:solidFill>
              </a:defRPr>
            </a:lvl8pPr>
            <a:lvl9pPr algn="l">
              <a:defRPr sz="15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RDS provides managed database instances. For TaskFlow, PostgreSQL is the planned production database while SQLite supports local development.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F4225-93D8-4885-B0FF-FC07C8BD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324F0-8045-49C6-969A-B2BBF27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  <a:lvl1pPr algn="l">
              <a:defRPr sz="1650" b="1">
                <a:solidFill>
                  <a:srgbClr val="102A43"/>
                </a:solidFill>
              </a:defRPr>
            </a:lvl1pPr>
            <a:lvl2pPr algn="l">
              <a:defRPr sz="1650" b="1">
                <a:solidFill>
                  <a:srgbClr val="102A43"/>
                </a:solidFill>
              </a:defRPr>
            </a:lvl2pPr>
            <a:lvl3pPr algn="l">
              <a:defRPr sz="1650" b="1">
                <a:solidFill>
                  <a:srgbClr val="102A43"/>
                </a:solidFill>
              </a:defRPr>
            </a:lvl3pPr>
            <a:lvl4pPr algn="l">
              <a:defRPr sz="1650" b="1">
                <a:solidFill>
                  <a:srgbClr val="102A43"/>
                </a:solidFill>
              </a:defRPr>
            </a:lvl4pPr>
            <a:lvl5pPr algn="l">
              <a:defRPr sz="1650" b="1">
                <a:solidFill>
                  <a:srgbClr val="102A43"/>
                </a:solidFill>
              </a:defRPr>
            </a:lvl5pPr>
            <a:lvl6pPr algn="l">
              <a:defRPr sz="1650" b="1">
                <a:solidFill>
                  <a:srgbClr val="102A43"/>
                </a:solidFill>
              </a:defRPr>
            </a:lvl6pPr>
            <a:lvl7pPr algn="l">
              <a:defRPr sz="1650" b="1">
                <a:solidFill>
                  <a:srgbClr val="102A43"/>
                </a:solidFill>
              </a:defRPr>
            </a:lvl7pPr>
            <a:lvl8pPr algn="l">
              <a:defRPr sz="1650" b="1">
                <a:solidFill>
                  <a:srgbClr val="102A43"/>
                </a:solidFill>
              </a:defRPr>
            </a:lvl8pPr>
            <a:lvl9pPr algn="l"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RDS database responsibilities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DCCBA-2BF3-4054-84A5-189F18A0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88AE3-FDE8-4CE6-B19E-6876B56D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Store structured application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3620E-ECBE-40C4-BFE8-7ECB48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4F4E9-36D3-4CBD-862E-3DB2275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Maintain relationships between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BC833-DD64-46DD-9284-A1C10AF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15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</a:defRPr>
            </a:defPPr>
            <a:lvl1pPr algn="l">
              <a:defRPr sz="1275" b="1">
                <a:solidFill>
                  <a:srgbClr val="102A43"/>
                </a:solidFill>
              </a:defRPr>
            </a:lvl1pPr>
            <a:lvl2pPr algn="l">
              <a:defRPr sz="1275" b="1">
                <a:solidFill>
                  <a:srgbClr val="102A43"/>
                </a:solidFill>
              </a:defRPr>
            </a:lvl2pPr>
            <a:lvl3pPr algn="l">
              <a:defRPr sz="1275" b="1">
                <a:solidFill>
                  <a:srgbClr val="102A43"/>
                </a:solidFill>
              </a:defRPr>
            </a:lvl3pPr>
            <a:lvl4pPr algn="l">
              <a:defRPr sz="1275" b="1">
                <a:solidFill>
                  <a:srgbClr val="102A43"/>
                </a:solidFill>
              </a:defRPr>
            </a:lvl4pPr>
            <a:lvl5pPr algn="l">
              <a:defRPr sz="1275" b="1">
                <a:solidFill>
                  <a:srgbClr val="102A43"/>
                </a:solidFill>
              </a:defRPr>
            </a:lvl5pPr>
            <a:lvl6pPr algn="l">
              <a:defRPr sz="1275" b="1">
                <a:solidFill>
                  <a:srgbClr val="102A43"/>
                </a:solidFill>
              </a:defRPr>
            </a:lvl6pPr>
            <a:lvl7pPr algn="l">
              <a:defRPr sz="1275" b="1">
                <a:solidFill>
                  <a:srgbClr val="102A43"/>
                </a:solidFill>
              </a:defRPr>
            </a:lvl7pPr>
            <a:lvl8pPr algn="l">
              <a:defRPr sz="1275" b="1">
                <a:solidFill>
                  <a:srgbClr val="102A43"/>
                </a:solidFill>
              </a:defRPr>
            </a:lvl8pPr>
            <a:lvl9pPr algn="l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17A86-0780-435C-AF5F-DD7C2D0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43"/>
                </a:solidFill>
              </a:defRPr>
            </a:defPPr>
            <a:lvl1pPr algn="l">
              <a:defRPr sz="1275" b="0">
                <a:solidFill>
                  <a:srgbClr val="102A43"/>
                </a:solidFill>
              </a:defRPr>
            </a:lvl1pPr>
            <a:lvl2pPr algn="l">
              <a:defRPr sz="1275" b="0">
                <a:solidFill>
                  <a:srgbClr val="102A43"/>
                </a:solidFill>
              </a:defRPr>
            </a:lvl2pPr>
            <a:lvl3pPr algn="l">
              <a:defRPr sz="1275" b="0">
                <a:solidFill>
                  <a:srgbClr val="102A43"/>
                </a:solidFill>
              </a:defRPr>
            </a:lvl3pPr>
            <a:lvl4pPr algn="l">
              <a:defRPr sz="1275" b="0">
                <a:solidFill>
                  <a:srgbClr val="102A43"/>
                </a:solidFill>
              </a:defRPr>
            </a:lvl4pPr>
            <a:lvl5pPr algn="l">
              <a:defRPr sz="1275" b="0">
                <a:solidFill>
                  <a:srgbClr val="102A43"/>
                </a:solidFill>
              </a:defRPr>
            </a:lvl5pPr>
            <a:lvl6pPr algn="l">
              <a:defRPr sz="1275" b="0">
                <a:solidFill>
                  <a:srgbClr val="102A43"/>
                </a:solidFill>
              </a:defRPr>
            </a:lvl6pPr>
            <a:lvl7pPr algn="l">
              <a:defRPr sz="1275" b="0">
                <a:solidFill>
                  <a:srgbClr val="102A43"/>
                </a:solidFill>
              </a:defRPr>
            </a:lvl7pPr>
            <a:lvl8pPr algn="l">
              <a:defRPr sz="1275" b="0">
                <a:solidFill>
                  <a:srgbClr val="102A43"/>
                </a:solidFill>
              </a:defRPr>
            </a:lvl8pPr>
            <a:lvl9pPr algn="l"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Support backups and access controls</a:t>
            </a:r>
          </a:p>
        </p:txBody>
      </p:sp>
    </p:spTree>
    <p:extLst>
      <p:ext uri="{BB962C8B-B14F-4D97-AF65-F5344CB8AC3E}">
        <p14:creationId xmlns:p14="http://schemas.microsoft.com/office/powerpoint/2010/main" val="935612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1E988-FC9B-4BAE-954F-79A2C81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Amazon RDS in TaskFlow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DE778-EC5F-4A17-BFC4-B953B11E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CB31B-2832-4DAB-B2FE-990E780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24518-152B-4ABC-B4F1-0AAB214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F584D-07C6-4B03-AFD6-E8812B96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PostgreSQL on RDS stores the data that the API needs for each student.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B0542-EDCF-4A72-AAD4-22F57CEA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9BB7B-12DA-47FE-BD61-B2476EEB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C858E-F0E7-489B-B78D-3DD09B20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id, name, email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password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5714-A501-4559-B981-743BB1C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D7436-F9AF-4670-AD41-817CA26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62BF8-DCFF-40DD-BC51-01288C4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title, subject, priority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status,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8E079-E6C6-48C9-B814-B4CAD88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7A59B-00F5-49CE-AE1B-DFFBFD9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study_files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8CD1A-89FD-41A5-B1B5-5C23BCF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02A43"/>
                </a:solidFill>
              </a:defRPr>
            </a:defPPr>
            <a:lvl1pPr algn="ctr">
              <a:defRPr sz="1350" b="0">
                <a:solidFill>
                  <a:srgbClr val="102A43"/>
                </a:solidFill>
              </a:defRPr>
            </a:lvl1pPr>
            <a:lvl2pPr algn="ctr">
              <a:defRPr sz="1350" b="0">
                <a:solidFill>
                  <a:srgbClr val="102A43"/>
                </a:solidFill>
              </a:defRPr>
            </a:lvl2pPr>
            <a:lvl3pPr algn="ctr">
              <a:defRPr sz="1350" b="0">
                <a:solidFill>
                  <a:srgbClr val="102A43"/>
                </a:solidFill>
              </a:defRPr>
            </a:lvl3pPr>
            <a:lvl4pPr algn="ctr">
              <a:defRPr sz="1350" b="0">
                <a:solidFill>
                  <a:srgbClr val="102A43"/>
                </a:solidFill>
              </a:defRPr>
            </a:lvl4pPr>
            <a:lvl5pPr algn="ctr">
              <a:defRPr sz="1350" b="0">
                <a:solidFill>
                  <a:srgbClr val="102A43"/>
                </a:solidFill>
              </a:defRPr>
            </a:lvl5pPr>
            <a:lvl6pPr algn="ctr">
              <a:defRPr sz="1350" b="0">
                <a:solidFill>
                  <a:srgbClr val="102A43"/>
                </a:solidFill>
              </a:defRPr>
            </a:lvl6pPr>
            <a:lvl7pPr algn="ctr">
              <a:defRPr sz="1350" b="0">
                <a:solidFill>
                  <a:srgbClr val="102A43"/>
                </a:solidFill>
              </a:defRPr>
            </a:lvl7pPr>
            <a:lvl8pPr algn="ctr">
              <a:defRPr sz="1350" b="0">
                <a:solidFill>
                  <a:srgbClr val="102A43"/>
                </a:solidFill>
              </a:defRPr>
            </a:lvl8pPr>
            <a:lvl9pPr algn="ctr"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file metadata</a:t>
            </a:r>
          </a:p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owner and task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3E8DE-91AD-4099-8612-1DD811FA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86581"/>
                </a:solidFill>
              </a:defRPr>
            </a:defPPr>
            <a:lvl1pPr algn="ctr">
              <a:defRPr sz="1500" b="0">
                <a:solidFill>
                  <a:srgbClr val="486581"/>
                </a:solidFill>
              </a:defRPr>
            </a:lvl1pPr>
            <a:lvl2pPr algn="ctr">
              <a:defRPr sz="1500" b="0">
                <a:solidFill>
                  <a:srgbClr val="486581"/>
                </a:solidFill>
              </a:defRPr>
            </a:lvl2pPr>
            <a:lvl3pPr algn="ctr">
              <a:defRPr sz="1500" b="0">
                <a:solidFill>
                  <a:srgbClr val="486581"/>
                </a:solidFill>
              </a:defRPr>
            </a:lvl3pPr>
            <a:lvl4pPr algn="ctr">
              <a:defRPr sz="1500" b="0">
                <a:solidFill>
                  <a:srgbClr val="486581"/>
                </a:solidFill>
              </a:defRPr>
            </a:lvl4pPr>
            <a:lvl5pPr algn="ctr">
              <a:defRPr sz="1500" b="0">
                <a:solidFill>
                  <a:srgbClr val="486581"/>
                </a:solidFill>
              </a:defRPr>
            </a:lvl5pPr>
            <a:lvl6pPr algn="ctr">
              <a:defRPr sz="1500" b="0">
                <a:solidFill>
                  <a:srgbClr val="486581"/>
                </a:solidFill>
              </a:defRPr>
            </a:lvl6pPr>
            <a:lvl7pPr algn="ctr">
              <a:defRPr sz="1500" b="0">
                <a:solidFill>
                  <a:srgbClr val="486581"/>
                </a:solidFill>
              </a:defRPr>
            </a:lvl7pPr>
            <a:lvl8pPr algn="ctr">
              <a:defRPr sz="1500" b="0">
                <a:solidFill>
                  <a:srgbClr val="486581"/>
                </a:solidFill>
              </a:defRPr>
            </a:lvl8pPr>
            <a:lvl9pPr algn="ctr">
              <a:defRPr sz="15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Each API query uses the authenticated user identity to scope private records.</a:t>
            </a:r>
          </a:p>
        </p:txBody>
      </p:sp>
    </p:spTree>
    <p:extLst>
      <p:ext uri="{BB962C8B-B14F-4D97-AF65-F5344CB8AC3E}">
        <p14:creationId xmlns:p14="http://schemas.microsoft.com/office/powerpoint/2010/main" val="2102784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A8C17-D4B5-4E1A-9E99-F1450D3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Task creation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2D312-F9A1-489F-B8A0-E77392C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D8CD7-D335-41AA-A6F2-C0DD04E4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01444-3816-47F7-A914-D25C12F9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486581"/>
                </a:solidFill>
              </a:defRPr>
            </a:defPPr>
            <a:lvl1pPr algn="l">
              <a:defRPr sz="750" b="0">
                <a:solidFill>
                  <a:srgbClr val="486581"/>
                </a:solidFill>
              </a:defRPr>
            </a:lvl1pPr>
            <a:lvl2pPr algn="l">
              <a:defRPr sz="750" b="0">
                <a:solidFill>
                  <a:srgbClr val="486581"/>
                </a:solidFill>
              </a:defRPr>
            </a:lvl2pPr>
            <a:lvl3pPr algn="l">
              <a:defRPr sz="750" b="0">
                <a:solidFill>
                  <a:srgbClr val="486581"/>
                </a:solidFill>
              </a:defRPr>
            </a:lvl3pPr>
            <a:lvl4pPr algn="l">
              <a:defRPr sz="750" b="0">
                <a:solidFill>
                  <a:srgbClr val="486581"/>
                </a:solidFill>
              </a:defRPr>
            </a:lvl4pPr>
            <a:lvl5pPr algn="l">
              <a:defRPr sz="750" b="0">
                <a:solidFill>
                  <a:srgbClr val="486581"/>
                </a:solidFill>
              </a:defRPr>
            </a:lvl5pPr>
            <a:lvl6pPr algn="l">
              <a:defRPr sz="750" b="0">
                <a:solidFill>
                  <a:srgbClr val="486581"/>
                </a:solidFill>
              </a:defRPr>
            </a:lvl6pPr>
            <a:lvl7pPr algn="l">
              <a:defRPr sz="750" b="0">
                <a:solidFill>
                  <a:srgbClr val="486581"/>
                </a:solidFill>
              </a:defRPr>
            </a:lvl7pPr>
            <a:lvl8pPr algn="l">
              <a:defRPr sz="750" b="0">
                <a:solidFill>
                  <a:srgbClr val="486581"/>
                </a:solidFill>
              </a:defRPr>
            </a:lvl8pPr>
            <a:lvl9pPr algn="l">
              <a:defRPr sz="75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Cloud computing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00FD2-12E7-421C-AEFA-FE4854B8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486581"/>
                </a:solidFill>
              </a:defRPr>
            </a:defPPr>
            <a:lvl1pPr algn="l">
              <a:defRPr sz="1575" b="0">
                <a:solidFill>
                  <a:srgbClr val="486581"/>
                </a:solidFill>
              </a:defRPr>
            </a:lvl1pPr>
            <a:lvl2pPr algn="l">
              <a:defRPr sz="1575" b="0">
                <a:solidFill>
                  <a:srgbClr val="486581"/>
                </a:solidFill>
              </a:defRPr>
            </a:lvl2pPr>
            <a:lvl3pPr algn="l">
              <a:defRPr sz="1575" b="0">
                <a:solidFill>
                  <a:srgbClr val="486581"/>
                </a:solidFill>
              </a:defRPr>
            </a:lvl3pPr>
            <a:lvl4pPr algn="l">
              <a:defRPr sz="1575" b="0">
                <a:solidFill>
                  <a:srgbClr val="486581"/>
                </a:solidFill>
              </a:defRPr>
            </a:lvl4pPr>
            <a:lvl5pPr algn="l">
              <a:defRPr sz="1575" b="0">
                <a:solidFill>
                  <a:srgbClr val="486581"/>
                </a:solidFill>
              </a:defRPr>
            </a:lvl5pPr>
            <a:lvl6pPr algn="l">
              <a:defRPr sz="1575" b="0">
                <a:solidFill>
                  <a:srgbClr val="486581"/>
                </a:solidFill>
              </a:defRPr>
            </a:lvl6pPr>
            <a:lvl7pPr algn="l">
              <a:defRPr sz="1575" b="0">
                <a:solidFill>
                  <a:srgbClr val="486581"/>
                </a:solidFill>
              </a:defRPr>
            </a:lvl7pPr>
            <a:lvl8pPr algn="l">
              <a:defRPr sz="1575" b="0">
                <a:solidFill>
                  <a:srgbClr val="486581"/>
                </a:solidFill>
              </a:defRPr>
            </a:lvl8pPr>
            <a:lvl9pPr algn="l">
              <a:defRPr sz="1575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Example: a student creates a task from the browser.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7260A-6F86-4A4F-8790-25D64A5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FB232-89DC-4E1F-BD2C-89EEEDF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347F6-A141-42F2-8B65-63F37BE9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React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132F-7F2D-40AC-931F-C0FDC4E3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Student enters task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E9F55-E64E-4821-A315-1CD743B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F2D41-D1B8-477C-82B9-25725F5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F4B5D-BDCE-43B2-922A-4463430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254D5-0A2B-4C52-8DA4-ECB10DE8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EC2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A56FB-4B70-4338-B436-84E36FD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Flask validates the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4A88E-7079-4C9B-821B-B62F3BC2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E976-4719-45A5-9604-B947B0A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E66B6-0093-4404-A2CB-3CADB9A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E9866-F651-4DCB-AE41-74C342B5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RDS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98BF6-C485-47F7-BA7E-BBA4417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PostgreSQL saves the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A726C-7719-407D-AAF3-B02DBDF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46EB4"/>
                </a:solidFill>
              </a:defRPr>
            </a:defPPr>
            <a:lvl1pPr algn="ctr">
              <a:defRPr sz="2175" b="1">
                <a:solidFill>
                  <a:srgbClr val="146EB4"/>
                </a:solidFill>
              </a:defRPr>
            </a:lvl1pPr>
            <a:lvl2pPr algn="ctr">
              <a:defRPr sz="2175" b="1">
                <a:solidFill>
                  <a:srgbClr val="146EB4"/>
                </a:solidFill>
              </a:defRPr>
            </a:lvl2pPr>
            <a:lvl3pPr algn="ctr">
              <a:defRPr sz="2175" b="1">
                <a:solidFill>
                  <a:srgbClr val="146EB4"/>
                </a:solidFill>
              </a:defRPr>
            </a:lvl3pPr>
            <a:lvl4pPr algn="ctr">
              <a:defRPr sz="2175" b="1">
                <a:solidFill>
                  <a:srgbClr val="146EB4"/>
                </a:solidFill>
              </a:defRPr>
            </a:lvl4pPr>
            <a:lvl5pPr algn="ctr">
              <a:defRPr sz="2175" b="1">
                <a:solidFill>
                  <a:srgbClr val="146EB4"/>
                </a:solidFill>
              </a:defRPr>
            </a:lvl5pPr>
            <a:lvl6pPr algn="ctr">
              <a:defRPr sz="2175" b="1">
                <a:solidFill>
                  <a:srgbClr val="146EB4"/>
                </a:solidFill>
              </a:defRPr>
            </a:lvl6pPr>
            <a:lvl7pPr algn="ctr">
              <a:defRPr sz="2175" b="1">
                <a:solidFill>
                  <a:srgbClr val="146EB4"/>
                </a:solidFill>
              </a:defRPr>
            </a:lvl7pPr>
            <a:lvl8pPr algn="ctr">
              <a:defRPr sz="2175" b="1">
                <a:solidFill>
                  <a:srgbClr val="146EB4"/>
                </a:solidFill>
              </a:defRPr>
            </a:lvl8pPr>
            <a:lvl9pPr algn="ctr">
              <a:defRPr sz="217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46EB4"/>
                </a:solidFill>
              </a:defRPr>
            </a:pPr>
            <a:r>
              <a:rPr sz="2175" b="1">
                <a:solidFill>
                  <a:srgbClr val="146EB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C72D7-6406-4F92-8661-3213F24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35CC9-DDA2-47F0-AE13-9258B13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6EB4"/>
                </a:solidFill>
              </a:defRPr>
            </a:defPPr>
            <a:lvl1pPr algn="l">
              <a:defRPr sz="2025" b="1">
                <a:solidFill>
                  <a:srgbClr val="146EB4"/>
                </a:solidFill>
              </a:defRPr>
            </a:lvl1pPr>
            <a:lvl2pPr algn="l">
              <a:defRPr sz="2025" b="1">
                <a:solidFill>
                  <a:srgbClr val="146EB4"/>
                </a:solidFill>
              </a:defRPr>
            </a:lvl2pPr>
            <a:lvl3pPr algn="l">
              <a:defRPr sz="2025" b="1">
                <a:solidFill>
                  <a:srgbClr val="146EB4"/>
                </a:solidFill>
              </a:defRPr>
            </a:lvl3pPr>
            <a:lvl4pPr algn="l">
              <a:defRPr sz="2025" b="1">
                <a:solidFill>
                  <a:srgbClr val="146EB4"/>
                </a:solidFill>
              </a:defRPr>
            </a:lvl4pPr>
            <a:lvl5pPr algn="l">
              <a:defRPr sz="2025" b="1">
                <a:solidFill>
                  <a:srgbClr val="146EB4"/>
                </a:solidFill>
              </a:defRPr>
            </a:lvl5pPr>
            <a:lvl6pPr algn="l">
              <a:defRPr sz="2025" b="1">
                <a:solidFill>
                  <a:srgbClr val="146EB4"/>
                </a:solidFill>
              </a:defRPr>
            </a:lvl6pPr>
            <a:lvl7pPr algn="l">
              <a:defRPr sz="2025" b="1">
                <a:solidFill>
                  <a:srgbClr val="146EB4"/>
                </a:solidFill>
              </a:defRPr>
            </a:lvl7pPr>
            <a:lvl8pPr algn="l">
              <a:defRPr sz="2025" b="1">
                <a:solidFill>
                  <a:srgbClr val="146EB4"/>
                </a:solidFill>
              </a:defRPr>
            </a:lvl8pPr>
            <a:lvl9pPr algn="l">
              <a:defRPr sz="2025" b="1">
                <a:solidFill>
                  <a:srgbClr val="146EB4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6EB4"/>
                </a:solidFill>
              </a:defRPr>
            </a:pPr>
            <a:r>
              <a:rPr sz="2025" b="1">
                <a:solidFill>
                  <a:srgbClr val="146EB4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A60BB-BB6B-4D9D-AD81-E9DBD6F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  <a:lvl1pPr algn="l">
              <a:defRPr sz="1500" b="1">
                <a:solidFill>
                  <a:srgbClr val="102A43"/>
                </a:solidFill>
              </a:defRPr>
            </a:lvl1pPr>
            <a:lvl2pPr algn="l">
              <a:defRPr sz="1500" b="1">
                <a:solidFill>
                  <a:srgbClr val="102A43"/>
                </a:solidFill>
              </a:defRPr>
            </a:lvl2pPr>
            <a:lvl3pPr algn="l">
              <a:defRPr sz="1500" b="1">
                <a:solidFill>
                  <a:srgbClr val="102A43"/>
                </a:solidFill>
              </a:defRPr>
            </a:lvl3pPr>
            <a:lvl4pPr algn="l">
              <a:defRPr sz="1500" b="1">
                <a:solidFill>
                  <a:srgbClr val="102A43"/>
                </a:solidFill>
              </a:defRPr>
            </a:lvl4pPr>
            <a:lvl5pPr algn="l">
              <a:defRPr sz="1500" b="1">
                <a:solidFill>
                  <a:srgbClr val="102A43"/>
                </a:solidFill>
              </a:defRPr>
            </a:lvl5pPr>
            <a:lvl6pPr algn="l">
              <a:defRPr sz="1500" b="1">
                <a:solidFill>
                  <a:srgbClr val="102A43"/>
                </a:solidFill>
              </a:defRPr>
            </a:lvl6pPr>
            <a:lvl7pPr algn="l">
              <a:defRPr sz="1500" b="1">
                <a:solidFill>
                  <a:srgbClr val="102A43"/>
                </a:solidFill>
              </a:defRPr>
            </a:lvl7pPr>
            <a:lvl8pPr algn="l">
              <a:defRPr sz="1500" b="1">
                <a:solidFill>
                  <a:srgbClr val="102A43"/>
                </a:solidFill>
              </a:defRPr>
            </a:lvl8pPr>
            <a:lvl9pPr algn="l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1CEFA-C2DF-4956-B060-D988C73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242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43"/>
                </a:solidFill>
              </a:defRPr>
            </a:defPPr>
            <a:lvl1pPr algn="l">
              <a:defRPr sz="1200" b="0">
                <a:solidFill>
                  <a:srgbClr val="102A43"/>
                </a:solidFill>
              </a:defRPr>
            </a:lvl1pPr>
            <a:lvl2pPr algn="l">
              <a:defRPr sz="1200" b="0">
                <a:solidFill>
                  <a:srgbClr val="102A43"/>
                </a:solidFill>
              </a:defRPr>
            </a:lvl2pPr>
            <a:lvl3pPr algn="l">
              <a:defRPr sz="1200" b="0">
                <a:solidFill>
                  <a:srgbClr val="102A43"/>
                </a:solidFill>
              </a:defRPr>
            </a:lvl3pPr>
            <a:lvl4pPr algn="l">
              <a:defRPr sz="1200" b="0">
                <a:solidFill>
                  <a:srgbClr val="102A43"/>
                </a:solidFill>
              </a:defRPr>
            </a:lvl4pPr>
            <a:lvl5pPr algn="l">
              <a:defRPr sz="1200" b="0">
                <a:solidFill>
                  <a:srgbClr val="102A43"/>
                </a:solidFill>
              </a:defRPr>
            </a:lvl5pPr>
            <a:lvl6pPr algn="l">
              <a:defRPr sz="1200" b="0">
                <a:solidFill>
                  <a:srgbClr val="102A43"/>
                </a:solidFill>
              </a:defRPr>
            </a:lvl6pPr>
            <a:lvl7pPr algn="l">
              <a:defRPr sz="1200" b="0">
                <a:solidFill>
                  <a:srgbClr val="102A43"/>
                </a:solidFill>
              </a:defRPr>
            </a:lvl7pPr>
            <a:lvl8pPr algn="l">
              <a:defRPr sz="1200" b="0">
                <a:solidFill>
                  <a:srgbClr val="102A43"/>
                </a:solidFill>
              </a:defRPr>
            </a:lvl8pPr>
            <a:lvl9pPr algn="l"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API returns updated task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2B261-A2AC-49BB-8FC8-960084D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486581"/>
                </a:solidFill>
              </a:defRPr>
            </a:defPPr>
            <a:lvl1pPr algn="ctr">
              <a:defRPr sz="1500" b="0">
                <a:solidFill>
                  <a:srgbClr val="486581"/>
                </a:solidFill>
              </a:defRPr>
            </a:lvl1pPr>
            <a:lvl2pPr algn="ctr">
              <a:defRPr sz="1500" b="0">
                <a:solidFill>
                  <a:srgbClr val="486581"/>
                </a:solidFill>
              </a:defRPr>
            </a:lvl2pPr>
            <a:lvl3pPr algn="ctr">
              <a:defRPr sz="1500" b="0">
                <a:solidFill>
                  <a:srgbClr val="486581"/>
                </a:solidFill>
              </a:defRPr>
            </a:lvl3pPr>
            <a:lvl4pPr algn="ctr">
              <a:defRPr sz="1500" b="0">
                <a:solidFill>
                  <a:srgbClr val="486581"/>
                </a:solidFill>
              </a:defRPr>
            </a:lvl4pPr>
            <a:lvl5pPr algn="ctr">
              <a:defRPr sz="1500" b="0">
                <a:solidFill>
                  <a:srgbClr val="486581"/>
                </a:solidFill>
              </a:defRPr>
            </a:lvl5pPr>
            <a:lvl6pPr algn="ctr">
              <a:defRPr sz="1500" b="0">
                <a:solidFill>
                  <a:srgbClr val="486581"/>
                </a:solidFill>
              </a:defRPr>
            </a:lvl6pPr>
            <a:lvl7pPr algn="ctr">
              <a:defRPr sz="1500" b="0">
                <a:solidFill>
                  <a:srgbClr val="486581"/>
                </a:solidFill>
              </a:defRPr>
            </a:lvl7pPr>
            <a:lvl8pPr algn="ctr">
              <a:defRPr sz="1500" b="0">
                <a:solidFill>
                  <a:srgbClr val="486581"/>
                </a:solidFill>
              </a:defRPr>
            </a:lvl8pPr>
            <a:lvl9pPr algn="ctr">
              <a:defRPr sz="1500" b="0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Amplify hosts the React frontend where this workflow begins.</a:t>
            </a:r>
          </a:p>
        </p:txBody>
      </p:sp>
    </p:spTree>
    <p:extLst>
      <p:ext uri="{BB962C8B-B14F-4D97-AF65-F5344CB8AC3E}">
        <p14:creationId xmlns:p14="http://schemas.microsoft.com/office/powerpoint/2010/main" val="1203895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6284-1174-4F4B-8D00-E0EBF0F5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Service roles and 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A19B0-2950-4B95-BDC8-48C23A19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486581"/>
                </a:solidFill>
              </a:defRPr>
            </a:defPPr>
            <a:lvl1pPr algn="l">
              <a:defRPr sz="750" b="1">
                <a:solidFill>
                  <a:srgbClr val="486581"/>
                </a:solidFill>
              </a:defRPr>
            </a:lvl1pPr>
            <a:lvl2pPr algn="l">
              <a:defRPr sz="750" b="1">
                <a:solidFill>
                  <a:srgbClr val="486581"/>
                </a:solidFill>
              </a:defRPr>
            </a:lvl2pPr>
            <a:lvl3pPr algn="l">
              <a:defRPr sz="750" b="1">
                <a:solidFill>
                  <a:srgbClr val="486581"/>
                </a:solidFill>
              </a:defRPr>
            </a:lvl3pPr>
            <a:lvl4pPr algn="l">
              <a:defRPr sz="750" b="1">
                <a:solidFill>
                  <a:srgbClr val="486581"/>
                </a:solidFill>
              </a:defRPr>
            </a:lvl4pPr>
            <a:lvl5pPr algn="l">
              <a:defRPr sz="750" b="1">
                <a:solidFill>
                  <a:srgbClr val="486581"/>
                </a:solidFill>
              </a:defRPr>
            </a:lvl5pPr>
            <a:lvl6pPr algn="l">
              <a:defRPr sz="750" b="1">
                <a:solidFill>
                  <a:srgbClr val="486581"/>
                </a:solidFill>
              </a:defRPr>
            </a:lvl6pPr>
            <a:lvl7pPr algn="l">
              <a:defRPr sz="750" b="1">
                <a:solidFill>
                  <a:srgbClr val="486581"/>
                </a:solidFill>
              </a:defRPr>
            </a:lvl7pPr>
            <a:lvl8pPr algn="l">
              <a:defRPr sz="750" b="1">
                <a:solidFill>
                  <a:srgbClr val="486581"/>
                </a:solidFill>
              </a:defRPr>
            </a:lvl8pPr>
            <a:lvl9pPr algn="l">
              <a:defRPr sz="75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486581"/>
                </a:solidFill>
              </a:defRPr>
            </a:pPr>
            <a:r>
              <a:rPr sz="750" b="1">
                <a:solidFill>
                  <a:srgbClr val="486581"/>
                </a:solidFill>
              </a:rPr>
              <a:t>TASKFLOW CLOUD  /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F692E-EE99-4560-AF53-CC1D625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486581"/>
                </a:solidFill>
              </a:defRPr>
            </a:defPPr>
            <a:lvl1pPr algn="r">
              <a:defRPr sz="900" b="1">
                <a:solidFill>
                  <a:srgbClr val="486581"/>
                </a:solidFill>
              </a:defRPr>
            </a:lvl1pPr>
            <a:lvl2pPr algn="r">
              <a:defRPr sz="900" b="1">
                <a:solidFill>
                  <a:srgbClr val="486581"/>
                </a:solidFill>
              </a:defRPr>
            </a:lvl2pPr>
            <a:lvl3pPr algn="r">
              <a:defRPr sz="900" b="1">
                <a:solidFill>
                  <a:srgbClr val="486581"/>
                </a:solidFill>
              </a:defRPr>
            </a:lvl3pPr>
            <a:lvl4pPr algn="r">
              <a:defRPr sz="900" b="1">
                <a:solidFill>
                  <a:srgbClr val="486581"/>
                </a:solidFill>
              </a:defRPr>
            </a:lvl4pPr>
            <a:lvl5pPr algn="r">
              <a:defRPr sz="900" b="1">
                <a:solidFill>
                  <a:srgbClr val="486581"/>
                </a:solidFill>
              </a:defRPr>
            </a:lvl5pPr>
            <a:lvl6pPr algn="r">
              <a:defRPr sz="900" b="1">
                <a:solidFill>
                  <a:srgbClr val="486581"/>
                </a:solidFill>
              </a:defRPr>
            </a:lvl6pPr>
            <a:lvl7pPr algn="r">
              <a:defRPr sz="900" b="1">
                <a:solidFill>
                  <a:srgbClr val="486581"/>
                </a:solidFill>
              </a:defRPr>
            </a:lvl7pPr>
            <a:lvl8pPr algn="r">
              <a:defRPr sz="900" b="1">
                <a:solidFill>
                  <a:srgbClr val="486581"/>
                </a:solidFill>
              </a:defRPr>
            </a:lvl8pPr>
            <a:lvl9pPr algn="r">
              <a:defRPr sz="900" b="1">
                <a:solidFill>
                  <a:srgbClr val="48658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8C69F-42DA-4B77-AB3E-4DB9AF13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9EAF7"/>
                </a:solidFill>
              </a:defRPr>
            </a:defPPr>
            <a:lvl1pPr algn="l">
              <a:defRPr sz="1650" b="0">
                <a:solidFill>
                  <a:srgbClr val="D9EAF7"/>
                </a:solidFill>
              </a:defRPr>
            </a:lvl1pPr>
            <a:lvl2pPr algn="l">
              <a:defRPr sz="1650" b="0">
                <a:solidFill>
                  <a:srgbClr val="D9EAF7"/>
                </a:solidFill>
              </a:defRPr>
            </a:lvl2pPr>
            <a:lvl3pPr algn="l">
              <a:defRPr sz="1650" b="0">
                <a:solidFill>
                  <a:srgbClr val="D9EAF7"/>
                </a:solidFill>
              </a:defRPr>
            </a:lvl3pPr>
            <a:lvl4pPr algn="l">
              <a:defRPr sz="1650" b="0">
                <a:solidFill>
                  <a:srgbClr val="D9EAF7"/>
                </a:solidFill>
              </a:defRPr>
            </a:lvl4pPr>
            <a:lvl5pPr algn="l">
              <a:defRPr sz="1650" b="0">
                <a:solidFill>
                  <a:srgbClr val="D9EAF7"/>
                </a:solidFill>
              </a:defRPr>
            </a:lvl5pPr>
            <a:lvl6pPr algn="l">
              <a:defRPr sz="1650" b="0">
                <a:solidFill>
                  <a:srgbClr val="D9EAF7"/>
                </a:solidFill>
              </a:defRPr>
            </a:lvl6pPr>
            <a:lvl7pPr algn="l">
              <a:defRPr sz="1650" b="0">
                <a:solidFill>
                  <a:srgbClr val="D9EAF7"/>
                </a:solidFill>
              </a:defRPr>
            </a:lvl7pPr>
            <a:lvl8pPr algn="l">
              <a:defRPr sz="1650" b="0">
                <a:solidFill>
                  <a:srgbClr val="D9EAF7"/>
                </a:solidFill>
              </a:defRPr>
            </a:lvl8pPr>
            <a:lvl9pPr algn="l">
              <a:defRPr sz="16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9EAF7"/>
                </a:solidFill>
              </a:defRPr>
            </a:pPr>
            <a:r>
              <a:rPr sz="1650" b="0">
                <a:solidFill>
                  <a:srgbClr val="D9EAF7"/>
                </a:solidFill>
              </a:rPr>
              <a:t>TaskFlow Cloud maps each service to a specific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9C852-8B07-4BA7-88F7-F023F71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862D2-63A2-4F92-95A6-FD1C038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AWS Amplify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60A67-38C2-41AD-A815-4B01F98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React frontend 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17570-52A0-4F78-946B-6A61852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01D9E-544D-4F0D-871F-0C00C32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Amazon EC2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2E857-947A-453C-AF6A-D945F6D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Flask API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FD26F-D98E-4AC2-97F5-01754060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77974-7A56-47ED-9634-7227620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Amazon 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5A072-59B8-4EC7-AE72-82EA98B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PostgreSQL data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0440D-8D0D-4A50-A906-5BE5BF5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73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85FFD-EE30-49A0-93D8-39605794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Project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98046-70E9-48C8-8AEA-259751D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9EAF7"/>
                </a:solidFill>
              </a:defRPr>
            </a:defPPr>
            <a:lvl1pPr algn="l">
              <a:defRPr sz="1350" b="0">
                <a:solidFill>
                  <a:srgbClr val="D9EAF7"/>
                </a:solidFill>
              </a:defRPr>
            </a:lvl1pPr>
            <a:lvl2pPr algn="l">
              <a:defRPr sz="1350" b="0">
                <a:solidFill>
                  <a:srgbClr val="D9EAF7"/>
                </a:solidFill>
              </a:defRPr>
            </a:lvl2pPr>
            <a:lvl3pPr algn="l">
              <a:defRPr sz="1350" b="0">
                <a:solidFill>
                  <a:srgbClr val="D9EAF7"/>
                </a:solidFill>
              </a:defRPr>
            </a:lvl3pPr>
            <a:lvl4pPr algn="l">
              <a:defRPr sz="1350" b="0">
                <a:solidFill>
                  <a:srgbClr val="D9EAF7"/>
                </a:solidFill>
              </a:defRPr>
            </a:lvl4pPr>
            <a:lvl5pPr algn="l">
              <a:defRPr sz="1350" b="0">
                <a:solidFill>
                  <a:srgbClr val="D9EAF7"/>
                </a:solidFill>
              </a:defRPr>
            </a:lvl5pPr>
            <a:lvl6pPr algn="l">
              <a:defRPr sz="1350" b="0">
                <a:solidFill>
                  <a:srgbClr val="D9EAF7"/>
                </a:solidFill>
              </a:defRPr>
            </a:lvl6pPr>
            <a:lvl7pPr algn="l">
              <a:defRPr sz="1350" b="0">
                <a:solidFill>
                  <a:srgbClr val="D9EAF7"/>
                </a:solidFill>
              </a:defRPr>
            </a:lvl7pPr>
            <a:lvl8pPr algn="l">
              <a:defRPr sz="1350" b="0">
                <a:solidFill>
                  <a:srgbClr val="D9EAF7"/>
                </a:solidFill>
              </a:defRPr>
            </a:lvl8pPr>
            <a:lvl9pPr algn="l">
              <a:defRPr sz="13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The report documents this AWS architecture as cloud-ready. Local testing used the React, Flask and SQLite development setup.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C3CB7-EB27-4CBB-9B2E-B8475360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ED9C9-AFD6-4CB6-8790-01D629B6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0">
                <a:solidFill>
                  <a:srgbClr val="D9EAF7"/>
                </a:solidFill>
              </a:defRPr>
            </a:defPPr>
            <a:lvl1pPr algn="r">
              <a:defRPr sz="1350" b="0">
                <a:solidFill>
                  <a:srgbClr val="D9EAF7"/>
                </a:solidFill>
              </a:defRPr>
            </a:lvl1pPr>
            <a:lvl2pPr algn="r">
              <a:defRPr sz="1350" b="0">
                <a:solidFill>
                  <a:srgbClr val="D9EAF7"/>
                </a:solidFill>
              </a:defRPr>
            </a:lvl2pPr>
            <a:lvl3pPr algn="r">
              <a:defRPr sz="1350" b="0">
                <a:solidFill>
                  <a:srgbClr val="D9EAF7"/>
                </a:solidFill>
              </a:defRPr>
            </a:lvl3pPr>
            <a:lvl4pPr algn="r">
              <a:defRPr sz="1350" b="0">
                <a:solidFill>
                  <a:srgbClr val="D9EAF7"/>
                </a:solidFill>
              </a:defRPr>
            </a:lvl4pPr>
            <a:lvl5pPr algn="r">
              <a:defRPr sz="1350" b="0">
                <a:solidFill>
                  <a:srgbClr val="D9EAF7"/>
                </a:solidFill>
              </a:defRPr>
            </a:lvl5pPr>
            <a:lvl6pPr algn="r">
              <a:defRPr sz="1350" b="0">
                <a:solidFill>
                  <a:srgbClr val="D9EAF7"/>
                </a:solidFill>
              </a:defRPr>
            </a:lvl6pPr>
            <a:lvl7pPr algn="r">
              <a:defRPr sz="1350" b="0">
                <a:solidFill>
                  <a:srgbClr val="D9EAF7"/>
                </a:solidFill>
              </a:defRPr>
            </a:lvl7pPr>
            <a:lvl8pPr algn="r">
              <a:defRPr sz="1350" b="0">
                <a:solidFill>
                  <a:srgbClr val="D9EAF7"/>
                </a:solidFill>
              </a:defRPr>
            </a:lvl8pPr>
            <a:lvl9pPr algn="r">
              <a:defRPr sz="1350" b="0">
                <a:solidFill>
                  <a:srgbClr val="D9EAF7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02548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2026-10-25T06:46:37.1930000Z</dcterms:created>
  <dcterms:modified xsi:type="dcterms:W3CDTF">2026-10-25T06:46:37.1930000Z</dcterms:modified>
</coreProperties>
</file>